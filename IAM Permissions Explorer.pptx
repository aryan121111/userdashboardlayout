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Bryndan Write" panose="020B0604020202020204" charset="0"/>
      <p:regular r:id="rId14"/>
    </p:embeddedFont>
    <p:embeddedFont>
      <p:font typeface="Poppins" panose="020B0502040204020203" pitchFamily="2" charset="0"/>
      <p:regular r:id="rId15"/>
    </p:embeddedFont>
    <p:embeddedFont>
      <p:font typeface="Poppins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9" d="100"/>
          <a:sy n="59" d="100"/>
        </p:scale>
        <p:origin x="629" y="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6.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12.sv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14.svg"/><Relationship Id="rId4" Type="http://schemas.openxmlformats.org/officeDocument/2006/relationships/image" Target="../media/image13.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2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0.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6.svg"/><Relationship Id="rId4" Type="http://schemas.openxmlformats.org/officeDocument/2006/relationships/image" Target="../media/image4.sv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758414" y="8553782"/>
            <a:ext cx="3574228" cy="2439411"/>
          </a:xfrm>
          <a:custGeom>
            <a:avLst/>
            <a:gdLst/>
            <a:ahLst/>
            <a:cxnLst/>
            <a:rect l="l" t="t" r="r" b="b"/>
            <a:pathLst>
              <a:path w="3574228" h="2439411">
                <a:moveTo>
                  <a:pt x="0" y="0"/>
                </a:moveTo>
                <a:lnTo>
                  <a:pt x="3574228" y="0"/>
                </a:lnTo>
                <a:lnTo>
                  <a:pt x="3574228" y="2439411"/>
                </a:lnTo>
                <a:lnTo>
                  <a:pt x="0" y="24394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4820270" y="459188"/>
            <a:ext cx="4199183" cy="1030709"/>
          </a:xfrm>
          <a:custGeom>
            <a:avLst/>
            <a:gdLst/>
            <a:ahLst/>
            <a:cxnLst/>
            <a:rect l="l" t="t" r="r" b="b"/>
            <a:pathLst>
              <a:path w="4199183" h="1030709">
                <a:moveTo>
                  <a:pt x="0" y="0"/>
                </a:moveTo>
                <a:lnTo>
                  <a:pt x="4199183" y="0"/>
                </a:lnTo>
                <a:lnTo>
                  <a:pt x="4199183" y="1030709"/>
                </a:lnTo>
                <a:lnTo>
                  <a:pt x="0" y="10307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5852970" y="8281360"/>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8414" y="-255839"/>
            <a:ext cx="3183313" cy="2216744"/>
          </a:xfrm>
          <a:custGeom>
            <a:avLst/>
            <a:gdLst/>
            <a:ahLst/>
            <a:cxnLst/>
            <a:rect l="l" t="t" r="r" b="b"/>
            <a:pathLst>
              <a:path w="3183313" h="2216744">
                <a:moveTo>
                  <a:pt x="0" y="0"/>
                </a:moveTo>
                <a:lnTo>
                  <a:pt x="3183313" y="0"/>
                </a:lnTo>
                <a:lnTo>
                  <a:pt x="3183313" y="2216743"/>
                </a:lnTo>
                <a:lnTo>
                  <a:pt x="0" y="221674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7950422" y="-1241235"/>
            <a:ext cx="4323175" cy="2703950"/>
          </a:xfrm>
          <a:custGeom>
            <a:avLst/>
            <a:gdLst/>
            <a:ahLst/>
            <a:cxnLst/>
            <a:rect l="l" t="t" r="r" b="b"/>
            <a:pathLst>
              <a:path w="4323175" h="2703950">
                <a:moveTo>
                  <a:pt x="0" y="0"/>
                </a:moveTo>
                <a:lnTo>
                  <a:pt x="4323176" y="0"/>
                </a:lnTo>
                <a:lnTo>
                  <a:pt x="4323176" y="2703950"/>
                </a:lnTo>
                <a:lnTo>
                  <a:pt x="0" y="270395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rot="2546313">
            <a:off x="-2101172" y="5428761"/>
            <a:ext cx="3464537" cy="2166911"/>
          </a:xfrm>
          <a:custGeom>
            <a:avLst/>
            <a:gdLst/>
            <a:ahLst/>
            <a:cxnLst/>
            <a:rect l="l" t="t" r="r" b="b"/>
            <a:pathLst>
              <a:path w="3464537" h="2166911">
                <a:moveTo>
                  <a:pt x="0" y="0"/>
                </a:moveTo>
                <a:lnTo>
                  <a:pt x="3464538" y="0"/>
                </a:lnTo>
                <a:lnTo>
                  <a:pt x="3464538" y="2166911"/>
                </a:lnTo>
                <a:lnTo>
                  <a:pt x="0" y="216691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1686016" y="8553782"/>
            <a:ext cx="3439130" cy="3522386"/>
          </a:xfrm>
          <a:custGeom>
            <a:avLst/>
            <a:gdLst/>
            <a:ahLst/>
            <a:cxnLst/>
            <a:rect l="l" t="t" r="r" b="b"/>
            <a:pathLst>
              <a:path w="3439130" h="3522386">
                <a:moveTo>
                  <a:pt x="0" y="0"/>
                </a:moveTo>
                <a:lnTo>
                  <a:pt x="3439130" y="0"/>
                </a:lnTo>
                <a:lnTo>
                  <a:pt x="3439130" y="3522386"/>
                </a:lnTo>
                <a:lnTo>
                  <a:pt x="0" y="352238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3490204" y="-2113316"/>
            <a:ext cx="3627145" cy="3714953"/>
          </a:xfrm>
          <a:custGeom>
            <a:avLst/>
            <a:gdLst/>
            <a:ahLst/>
            <a:cxnLst/>
            <a:rect l="l" t="t" r="r" b="b"/>
            <a:pathLst>
              <a:path w="3627145" h="3714953">
                <a:moveTo>
                  <a:pt x="0" y="0"/>
                </a:moveTo>
                <a:lnTo>
                  <a:pt x="3627145" y="0"/>
                </a:lnTo>
                <a:lnTo>
                  <a:pt x="3627145" y="3714953"/>
                </a:lnTo>
                <a:lnTo>
                  <a:pt x="0" y="37149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Freeform 11"/>
          <p:cNvSpPr/>
          <p:nvPr/>
        </p:nvSpPr>
        <p:spPr>
          <a:xfrm>
            <a:off x="4253903" y="8826204"/>
            <a:ext cx="3938421" cy="2921593"/>
          </a:xfrm>
          <a:custGeom>
            <a:avLst/>
            <a:gdLst/>
            <a:ahLst/>
            <a:cxnLst/>
            <a:rect l="l" t="t" r="r" b="b"/>
            <a:pathLst>
              <a:path w="3938421" h="2921593">
                <a:moveTo>
                  <a:pt x="0" y="0"/>
                </a:moveTo>
                <a:lnTo>
                  <a:pt x="3938421" y="0"/>
                </a:lnTo>
                <a:lnTo>
                  <a:pt x="3938421" y="2921592"/>
                </a:lnTo>
                <a:lnTo>
                  <a:pt x="0" y="292159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17545050" y="2668437"/>
            <a:ext cx="3842656" cy="3842656"/>
          </a:xfrm>
          <a:custGeom>
            <a:avLst/>
            <a:gdLst/>
            <a:ahLst/>
            <a:cxnLst/>
            <a:rect l="l" t="t" r="r" b="b"/>
            <a:pathLst>
              <a:path w="3842656" h="3842656">
                <a:moveTo>
                  <a:pt x="0" y="0"/>
                </a:moveTo>
                <a:lnTo>
                  <a:pt x="3842656" y="0"/>
                </a:lnTo>
                <a:lnTo>
                  <a:pt x="3842656" y="3842656"/>
                </a:lnTo>
                <a:lnTo>
                  <a:pt x="0" y="3842656"/>
                </a:lnTo>
                <a:lnTo>
                  <a:pt x="0" y="0"/>
                </a:lnTo>
                <a:close/>
              </a:path>
            </a:pathLst>
          </a:custGeom>
          <a:blipFill>
            <a:blip>
              <a:extLst>
                <a:ext uri="{96DAC541-7B7A-43D3-8B79-37D633B846F1}">
                  <asvg:svgBlip xmlns:asvg="http://schemas.microsoft.com/office/drawing/2016/SVG/main" r:embed="rId10"/>
                </a:ext>
              </a:extLst>
            </a:blip>
            <a:stretch>
              <a:fillRect/>
            </a:stretch>
          </a:blipFill>
          <a:ln cap="sq">
            <a:noFill/>
            <a:prstDash val="solid"/>
            <a:miter/>
          </a:ln>
        </p:spPr>
      </p:sp>
      <p:sp>
        <p:nvSpPr>
          <p:cNvPr id="13" name="TextBox 13"/>
          <p:cNvSpPr txBox="1"/>
          <p:nvPr/>
        </p:nvSpPr>
        <p:spPr>
          <a:xfrm>
            <a:off x="6099419" y="6707017"/>
            <a:ext cx="6174179" cy="542925"/>
          </a:xfrm>
          <a:prstGeom prst="rect">
            <a:avLst/>
          </a:prstGeom>
        </p:spPr>
        <p:txBody>
          <a:bodyPr lIns="0" tIns="0" rIns="0" bIns="0" rtlCol="0" anchor="t">
            <a:spAutoFit/>
          </a:bodyPr>
          <a:lstStyle/>
          <a:p>
            <a:pPr algn="ctr">
              <a:lnSpc>
                <a:spcPts val="4425"/>
              </a:lnSpc>
            </a:pPr>
            <a:r>
              <a:rPr lang="en-US" sz="2500" b="1">
                <a:solidFill>
                  <a:srgbClr val="F4ECE5"/>
                </a:solidFill>
                <a:latin typeface="Poppins Bold"/>
                <a:ea typeface="Poppins Bold"/>
                <a:cs typeface="Poppins Bold"/>
                <a:sym typeface="Poppins Bold"/>
              </a:rPr>
              <a:t>By Aryan Singh</a:t>
            </a:r>
          </a:p>
        </p:txBody>
      </p:sp>
      <p:sp>
        <p:nvSpPr>
          <p:cNvPr id="14" name="TextBox 14"/>
          <p:cNvSpPr txBox="1"/>
          <p:nvPr/>
        </p:nvSpPr>
        <p:spPr>
          <a:xfrm>
            <a:off x="1825110" y="3523145"/>
            <a:ext cx="14722797" cy="2912907"/>
          </a:xfrm>
          <a:prstGeom prst="rect">
            <a:avLst/>
          </a:prstGeom>
        </p:spPr>
        <p:txBody>
          <a:bodyPr lIns="0" tIns="0" rIns="0" bIns="0" rtlCol="0" anchor="t">
            <a:spAutoFit/>
          </a:bodyPr>
          <a:lstStyle/>
          <a:p>
            <a:pPr algn="ctr">
              <a:lnSpc>
                <a:spcPts val="10892"/>
              </a:lnSpc>
            </a:pPr>
            <a:r>
              <a:rPr lang="en-US" sz="10575">
                <a:solidFill>
                  <a:srgbClr val="F4ECE5"/>
                </a:solidFill>
                <a:latin typeface="Bryndan Write"/>
                <a:ea typeface="Bryndan Write"/>
                <a:cs typeface="Bryndan Write"/>
                <a:sym typeface="Bryndan Write"/>
              </a:rPr>
              <a:t>IAM</a:t>
            </a:r>
          </a:p>
          <a:p>
            <a:pPr algn="ctr">
              <a:lnSpc>
                <a:spcPts val="10892"/>
              </a:lnSpc>
            </a:pPr>
            <a:r>
              <a:rPr lang="en-US" sz="10575">
                <a:solidFill>
                  <a:srgbClr val="F4ECE5"/>
                </a:solidFill>
                <a:latin typeface="Bryndan Write"/>
                <a:ea typeface="Bryndan Write"/>
                <a:cs typeface="Bryndan Write"/>
                <a:sym typeface="Bryndan Write"/>
              </a:rPr>
              <a:t>Permissions Explorer </a:t>
            </a:r>
          </a:p>
        </p:txBody>
      </p:sp>
      <p:sp>
        <p:nvSpPr>
          <p:cNvPr id="15" name="Freeform 15"/>
          <p:cNvSpPr/>
          <p:nvPr/>
        </p:nvSpPr>
        <p:spPr>
          <a:xfrm>
            <a:off x="9986296" y="8826204"/>
            <a:ext cx="971896" cy="1117122"/>
          </a:xfrm>
          <a:custGeom>
            <a:avLst/>
            <a:gdLst/>
            <a:ahLst/>
            <a:cxnLst/>
            <a:rect l="l" t="t" r="r" b="b"/>
            <a:pathLst>
              <a:path w="971896" h="1117122">
                <a:moveTo>
                  <a:pt x="0" y="0"/>
                </a:moveTo>
                <a:lnTo>
                  <a:pt x="971895" y="0"/>
                </a:lnTo>
                <a:lnTo>
                  <a:pt x="971895" y="1117121"/>
                </a:lnTo>
                <a:lnTo>
                  <a:pt x="0" y="1117121"/>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
        <p:nvSpPr>
          <p:cNvPr id="16" name="Freeform 16"/>
          <p:cNvSpPr/>
          <p:nvPr/>
        </p:nvSpPr>
        <p:spPr>
          <a:xfrm>
            <a:off x="347295" y="2712965"/>
            <a:ext cx="971896" cy="1117122"/>
          </a:xfrm>
          <a:custGeom>
            <a:avLst/>
            <a:gdLst/>
            <a:ahLst/>
            <a:cxnLst/>
            <a:rect l="l" t="t" r="r" b="b"/>
            <a:pathLst>
              <a:path w="971896" h="1117122">
                <a:moveTo>
                  <a:pt x="0" y="0"/>
                </a:moveTo>
                <a:lnTo>
                  <a:pt x="971896" y="0"/>
                </a:lnTo>
                <a:lnTo>
                  <a:pt x="971896" y="1117122"/>
                </a:lnTo>
                <a:lnTo>
                  <a:pt x="0" y="1117122"/>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764229" y="1591771"/>
            <a:ext cx="8577149" cy="1609091"/>
          </a:xfrm>
          <a:prstGeom prst="rect">
            <a:avLst/>
          </a:prstGeom>
        </p:spPr>
        <p:txBody>
          <a:bodyPr lIns="0" tIns="0" rIns="0" bIns="0" rtlCol="0" anchor="t">
            <a:spAutoFit/>
          </a:bodyPr>
          <a:lstStyle/>
          <a:p>
            <a:pPr marL="0" lvl="1" indent="0" algn="l">
              <a:lnSpc>
                <a:spcPts val="11330"/>
              </a:lnSpc>
              <a:spcBef>
                <a:spcPct val="0"/>
              </a:spcBef>
            </a:pPr>
            <a:r>
              <a:rPr lang="en-US" sz="11000" u="none" strike="noStrike">
                <a:solidFill>
                  <a:srgbClr val="F4ECE5"/>
                </a:solidFill>
                <a:latin typeface="Bryndan Write"/>
                <a:ea typeface="Bryndan Write"/>
                <a:cs typeface="Bryndan Write"/>
                <a:sym typeface="Bryndan Write"/>
              </a:rPr>
              <a:t>Introduction</a:t>
            </a:r>
          </a:p>
        </p:txBody>
      </p:sp>
      <p:sp>
        <p:nvSpPr>
          <p:cNvPr id="4" name="TextBox 4"/>
          <p:cNvSpPr txBox="1"/>
          <p:nvPr/>
        </p:nvSpPr>
        <p:spPr>
          <a:xfrm>
            <a:off x="1028700" y="3380036"/>
            <a:ext cx="14118337" cy="5337295"/>
          </a:xfrm>
          <a:prstGeom prst="rect">
            <a:avLst/>
          </a:prstGeom>
        </p:spPr>
        <p:txBody>
          <a:bodyPr lIns="0" tIns="0" rIns="0" bIns="0" rtlCol="0" anchor="t">
            <a:spAutoFit/>
          </a:bodyPr>
          <a:lstStyle/>
          <a:p>
            <a:pPr algn="l">
              <a:lnSpc>
                <a:spcPts val="4237"/>
              </a:lnSpc>
              <a:spcBef>
                <a:spcPct val="0"/>
              </a:spcBef>
            </a:pPr>
            <a:r>
              <a:rPr lang="en-US" sz="2393">
                <a:solidFill>
                  <a:srgbClr val="F4ECE5"/>
                </a:solidFill>
                <a:latin typeface="Poppins"/>
                <a:ea typeface="Poppins"/>
                <a:cs typeface="Poppins"/>
                <a:sym typeface="Poppins"/>
              </a:rPr>
              <a:t>IAM</a:t>
            </a:r>
            <a:r>
              <a:rPr lang="en-US" sz="2393" u="none" strike="noStrike">
                <a:solidFill>
                  <a:srgbClr val="F4ECE5"/>
                </a:solidFill>
                <a:latin typeface="Poppins"/>
                <a:ea typeface="Poppins"/>
                <a:cs typeface="Poppins"/>
                <a:sym typeface="Poppins"/>
              </a:rPr>
              <a:t> (Identity and Access Management) allows organizations to securely manage access to cloud resources by assigning permissions based on user roles and responsibilities.</a:t>
            </a:r>
          </a:p>
          <a:p>
            <a:pPr algn="l">
              <a:lnSpc>
                <a:spcPts val="4237"/>
              </a:lnSpc>
              <a:spcBef>
                <a:spcPct val="0"/>
              </a:spcBef>
            </a:pPr>
            <a:r>
              <a:rPr lang="en-US" sz="2393" u="none" strike="noStrike">
                <a:solidFill>
                  <a:srgbClr val="F4ECE5"/>
                </a:solidFill>
                <a:latin typeface="Poppins"/>
                <a:ea typeface="Poppins"/>
                <a:cs typeface="Poppins"/>
                <a:sym typeface="Poppins"/>
              </a:rPr>
              <a:t>It follows two key principles:</a:t>
            </a:r>
          </a:p>
          <a:p>
            <a:pPr marL="516822" lvl="1" indent="-258411" algn="l">
              <a:lnSpc>
                <a:spcPts val="4237"/>
              </a:lnSpc>
              <a:spcBef>
                <a:spcPct val="0"/>
              </a:spcBef>
              <a:buFont typeface="Arial"/>
              <a:buChar char="•"/>
            </a:pPr>
            <a:r>
              <a:rPr lang="en-US" sz="2393" u="none" strike="noStrike">
                <a:solidFill>
                  <a:srgbClr val="F4ECE5"/>
                </a:solidFill>
                <a:latin typeface="Poppins"/>
                <a:ea typeface="Poppins"/>
                <a:cs typeface="Poppins"/>
                <a:sym typeface="Poppins"/>
              </a:rPr>
              <a:t>Need-to-Know: Users should only have access to the specific resources required for their job.</a:t>
            </a:r>
          </a:p>
          <a:p>
            <a:pPr marL="516822" lvl="1" indent="-258411" algn="l">
              <a:lnSpc>
                <a:spcPts val="4237"/>
              </a:lnSpc>
              <a:spcBef>
                <a:spcPct val="0"/>
              </a:spcBef>
              <a:buFont typeface="Arial"/>
              <a:buChar char="•"/>
            </a:pPr>
            <a:r>
              <a:rPr lang="en-US" sz="2393" u="none" strike="noStrike">
                <a:solidFill>
                  <a:srgbClr val="F4ECE5"/>
                </a:solidFill>
                <a:latin typeface="Poppins"/>
                <a:ea typeface="Poppins"/>
                <a:cs typeface="Poppins"/>
                <a:sym typeface="Poppins"/>
              </a:rPr>
              <a:t>Least Privilege: Users should be granted the minimum level of permissions necessary to complete their tasks.</a:t>
            </a:r>
          </a:p>
          <a:p>
            <a:pPr marL="0" lvl="1" indent="0" algn="l">
              <a:lnSpc>
                <a:spcPts val="4237"/>
              </a:lnSpc>
              <a:spcBef>
                <a:spcPct val="0"/>
              </a:spcBef>
            </a:pPr>
            <a:r>
              <a:rPr lang="en-US" sz="2393" u="none" strike="noStrike">
                <a:solidFill>
                  <a:srgbClr val="F4ECE5"/>
                </a:solidFill>
                <a:latin typeface="Poppins"/>
                <a:ea typeface="Poppins"/>
                <a:cs typeface="Poppins"/>
                <a:sym typeface="Poppins"/>
              </a:rPr>
              <a:t>For example, if a user works with S3 storage, they should only have access to relevant S3 bucket operations—not full administrative access across the cloud environment.</a:t>
            </a:r>
          </a:p>
          <a:p>
            <a:pPr algn="l">
              <a:lnSpc>
                <a:spcPts val="4237"/>
              </a:lnSpc>
              <a:spcBef>
                <a:spcPct val="0"/>
              </a:spcBef>
            </a:pPr>
            <a:endParaRPr lang="en-US" sz="2393" u="none" strike="noStrike">
              <a:solidFill>
                <a:srgbClr val="F4ECE5"/>
              </a:solidFill>
              <a:latin typeface="Poppins"/>
              <a:ea typeface="Poppins"/>
              <a:cs typeface="Poppins"/>
              <a:sym typeface="Poppins"/>
            </a:endParaRPr>
          </a:p>
        </p:txBody>
      </p:sp>
      <p:sp>
        <p:nvSpPr>
          <p:cNvPr id="5" name="Freeform 5"/>
          <p:cNvSpPr/>
          <p:nvPr/>
        </p:nvSpPr>
        <p:spPr>
          <a:xfrm rot="-5400000">
            <a:off x="-377630" y="8519698"/>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5402956" y="-1396497"/>
            <a:ext cx="3938421" cy="2921593"/>
          </a:xfrm>
          <a:custGeom>
            <a:avLst/>
            <a:gdLst/>
            <a:ahLst/>
            <a:cxnLst/>
            <a:rect l="l" t="t" r="r" b="b"/>
            <a:pathLst>
              <a:path w="3938421" h="2921593">
                <a:moveTo>
                  <a:pt x="0" y="0"/>
                </a:moveTo>
                <a:lnTo>
                  <a:pt x="3938421" y="0"/>
                </a:lnTo>
                <a:lnTo>
                  <a:pt x="3938421" y="2921593"/>
                </a:lnTo>
                <a:lnTo>
                  <a:pt x="0" y="292159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1447910" y="459188"/>
            <a:ext cx="4199183" cy="1030709"/>
          </a:xfrm>
          <a:custGeom>
            <a:avLst/>
            <a:gdLst/>
            <a:ahLst/>
            <a:cxnLst/>
            <a:rect l="l" t="t" r="r" b="b"/>
            <a:pathLst>
              <a:path w="4199183" h="1030709">
                <a:moveTo>
                  <a:pt x="0" y="0"/>
                </a:moveTo>
                <a:lnTo>
                  <a:pt x="4199184" y="0"/>
                </a:lnTo>
                <a:lnTo>
                  <a:pt x="4199184" y="1030709"/>
                </a:lnTo>
                <a:lnTo>
                  <a:pt x="0" y="1030709"/>
                </a:lnTo>
                <a:lnTo>
                  <a:pt x="0" y="0"/>
                </a:lnTo>
                <a:close/>
              </a:path>
            </a:pathLst>
          </a:custGeom>
          <a:blipFill>
            <a:blip>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4820270" y="459188"/>
            <a:ext cx="4199183" cy="1030709"/>
          </a:xfrm>
          <a:custGeom>
            <a:avLst/>
            <a:gdLst/>
            <a:ahLst/>
            <a:cxnLst/>
            <a:rect l="l" t="t" r="r" b="b"/>
            <a:pathLst>
              <a:path w="4199183" h="1030709">
                <a:moveTo>
                  <a:pt x="0" y="0"/>
                </a:moveTo>
                <a:lnTo>
                  <a:pt x="4199183" y="0"/>
                </a:lnTo>
                <a:lnTo>
                  <a:pt x="4199183" y="1030709"/>
                </a:lnTo>
                <a:lnTo>
                  <a:pt x="0" y="10307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2546313">
            <a:off x="-2101172" y="5428761"/>
            <a:ext cx="3464537" cy="2166911"/>
          </a:xfrm>
          <a:custGeom>
            <a:avLst/>
            <a:gdLst/>
            <a:ahLst/>
            <a:cxnLst/>
            <a:rect l="l" t="t" r="r" b="b"/>
            <a:pathLst>
              <a:path w="3464537" h="2166911">
                <a:moveTo>
                  <a:pt x="0" y="0"/>
                </a:moveTo>
                <a:lnTo>
                  <a:pt x="3464538" y="0"/>
                </a:lnTo>
                <a:lnTo>
                  <a:pt x="3464538" y="2166911"/>
                </a:lnTo>
                <a:lnTo>
                  <a:pt x="0" y="2166911"/>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1166582" y="1126149"/>
            <a:ext cx="11482618" cy="543547"/>
          </a:xfrm>
          <a:prstGeom prst="rect">
            <a:avLst/>
          </a:prstGeom>
        </p:spPr>
        <p:txBody>
          <a:bodyPr wrap="square" lIns="0" tIns="0" rIns="0" bIns="0" rtlCol="0" anchor="t">
            <a:spAutoFit/>
          </a:bodyPr>
          <a:lstStyle/>
          <a:p>
            <a:pPr algn="ctr">
              <a:lnSpc>
                <a:spcPts val="4619"/>
              </a:lnSpc>
              <a:spcBef>
                <a:spcPct val="0"/>
              </a:spcBef>
            </a:pPr>
            <a:r>
              <a:rPr lang="en-US" sz="2816" b="1" u="sng" dirty="0">
                <a:solidFill>
                  <a:srgbClr val="FFFFFF"/>
                </a:solidFill>
                <a:latin typeface="Poppins Bold"/>
                <a:ea typeface="Poppins Bold"/>
                <a:cs typeface="Poppins Bold"/>
                <a:sym typeface="Poppins Bold"/>
              </a:rPr>
              <a:t> IAM Permissions Explorer – Feature Overview &amp; Rationale</a:t>
            </a:r>
          </a:p>
        </p:txBody>
      </p:sp>
      <p:sp>
        <p:nvSpPr>
          <p:cNvPr id="6" name="TextBox 6"/>
          <p:cNvSpPr txBox="1"/>
          <p:nvPr/>
        </p:nvSpPr>
        <p:spPr>
          <a:xfrm>
            <a:off x="1166582" y="1845429"/>
            <a:ext cx="15709419" cy="1136145"/>
          </a:xfrm>
          <a:prstGeom prst="rect">
            <a:avLst/>
          </a:prstGeom>
        </p:spPr>
        <p:txBody>
          <a:bodyPr lIns="0" tIns="0" rIns="0" bIns="0" rtlCol="0" anchor="t">
            <a:spAutoFit/>
          </a:bodyPr>
          <a:lstStyle/>
          <a:p>
            <a:pPr algn="l">
              <a:lnSpc>
                <a:spcPts val="3037"/>
              </a:lnSpc>
              <a:spcBef>
                <a:spcPct val="0"/>
              </a:spcBef>
            </a:pPr>
            <a:r>
              <a:rPr lang="en-US" sz="1852" dirty="0">
                <a:solidFill>
                  <a:srgbClr val="FFFFFF"/>
                </a:solidFill>
                <a:latin typeface="Poppins"/>
                <a:ea typeface="Poppins"/>
                <a:cs typeface="Poppins"/>
                <a:sym typeface="Poppins"/>
              </a:rPr>
              <a:t>The IAM Permissions Explorer is designed to help security engineers and cloud administrators identify, analyze, and remediate excessive or unused permissions across cloud environments. The solution focuses on simplifying complex IAM data into actionable insights while following the principle of least privilege.</a:t>
            </a:r>
          </a:p>
        </p:txBody>
      </p:sp>
      <p:sp>
        <p:nvSpPr>
          <p:cNvPr id="7" name="TextBox 7"/>
          <p:cNvSpPr txBox="1"/>
          <p:nvPr/>
        </p:nvSpPr>
        <p:spPr>
          <a:xfrm>
            <a:off x="1028700" y="3248356"/>
            <a:ext cx="1866900" cy="553934"/>
          </a:xfrm>
          <a:prstGeom prst="rect">
            <a:avLst/>
          </a:prstGeom>
        </p:spPr>
        <p:txBody>
          <a:bodyPr wrap="square" lIns="0" tIns="0" rIns="0" bIns="0" rtlCol="0" anchor="t">
            <a:spAutoFit/>
          </a:bodyPr>
          <a:lstStyle/>
          <a:p>
            <a:pPr algn="ctr">
              <a:lnSpc>
                <a:spcPts val="4653"/>
              </a:lnSpc>
              <a:spcBef>
                <a:spcPct val="0"/>
              </a:spcBef>
            </a:pPr>
            <a:r>
              <a:rPr lang="en-US" sz="2837" b="1" dirty="0">
                <a:solidFill>
                  <a:srgbClr val="FFFFFF"/>
                </a:solidFill>
                <a:latin typeface="Poppins Bold"/>
                <a:ea typeface="Poppins Bold"/>
                <a:cs typeface="Poppins Bold"/>
                <a:sym typeface="Poppins Bold"/>
              </a:rPr>
              <a:t>Features</a:t>
            </a:r>
          </a:p>
        </p:txBody>
      </p:sp>
      <p:sp>
        <p:nvSpPr>
          <p:cNvPr id="8" name="TextBox 8"/>
          <p:cNvSpPr txBox="1"/>
          <p:nvPr/>
        </p:nvSpPr>
        <p:spPr>
          <a:xfrm>
            <a:off x="1028700" y="3959963"/>
            <a:ext cx="3717369" cy="410164"/>
          </a:xfrm>
          <a:prstGeom prst="rect">
            <a:avLst/>
          </a:prstGeom>
        </p:spPr>
        <p:txBody>
          <a:bodyPr lIns="0" tIns="0" rIns="0" bIns="0" rtlCol="0" anchor="t">
            <a:spAutoFit/>
          </a:bodyPr>
          <a:lstStyle/>
          <a:p>
            <a:pPr algn="ctr">
              <a:lnSpc>
                <a:spcPts val="3337"/>
              </a:lnSpc>
              <a:spcBef>
                <a:spcPct val="0"/>
              </a:spcBef>
            </a:pPr>
            <a:r>
              <a:rPr lang="en-US" sz="2034" dirty="0">
                <a:solidFill>
                  <a:srgbClr val="FFFFFF"/>
                </a:solidFill>
                <a:latin typeface="Poppins"/>
                <a:ea typeface="Poppins"/>
                <a:cs typeface="Poppins"/>
                <a:sym typeface="Poppins"/>
              </a:rPr>
              <a:t>1. Centralized IAM Dashboard</a:t>
            </a:r>
          </a:p>
        </p:txBody>
      </p:sp>
      <p:sp>
        <p:nvSpPr>
          <p:cNvPr id="9" name="TextBox 9"/>
          <p:cNvSpPr txBox="1"/>
          <p:nvPr/>
        </p:nvSpPr>
        <p:spPr>
          <a:xfrm>
            <a:off x="1166582" y="4449246"/>
            <a:ext cx="6418546" cy="1281275"/>
          </a:xfrm>
          <a:prstGeom prst="rect">
            <a:avLst/>
          </a:prstGeom>
        </p:spPr>
        <p:txBody>
          <a:bodyPr lIns="0" tIns="0" rIns="0" bIns="0" rtlCol="0" anchor="t">
            <a:spAutoFit/>
          </a:bodyPr>
          <a:lstStyle/>
          <a:p>
            <a:pPr algn="l">
              <a:lnSpc>
                <a:spcPts val="2573"/>
              </a:lnSpc>
              <a:spcBef>
                <a:spcPct val="0"/>
              </a:spcBef>
            </a:pPr>
            <a:r>
              <a:rPr lang="en-US" sz="1569">
                <a:solidFill>
                  <a:srgbClr val="FFFFFF"/>
                </a:solidFill>
                <a:latin typeface="Poppins"/>
                <a:ea typeface="Poppins"/>
                <a:cs typeface="Poppins"/>
                <a:sym typeface="Poppins"/>
              </a:rPr>
              <a:t>Provides a unified view of all users, roles, and permissions. It highlights key metrics such as high-risk users, unused permissions, and total access distribution to enable quick monitoring.</a:t>
            </a:r>
          </a:p>
        </p:txBody>
      </p:sp>
      <p:sp>
        <p:nvSpPr>
          <p:cNvPr id="10" name="TextBox 10"/>
          <p:cNvSpPr txBox="1"/>
          <p:nvPr/>
        </p:nvSpPr>
        <p:spPr>
          <a:xfrm>
            <a:off x="1028700" y="5863871"/>
            <a:ext cx="3114437" cy="390428"/>
          </a:xfrm>
          <a:prstGeom prst="rect">
            <a:avLst/>
          </a:prstGeom>
        </p:spPr>
        <p:txBody>
          <a:bodyPr wrap="square" lIns="0" tIns="0" rIns="0" bIns="0" rtlCol="0" anchor="t">
            <a:spAutoFit/>
          </a:bodyPr>
          <a:lstStyle/>
          <a:p>
            <a:pPr algn="ctr">
              <a:lnSpc>
                <a:spcPts val="3337"/>
              </a:lnSpc>
              <a:spcBef>
                <a:spcPct val="0"/>
              </a:spcBef>
            </a:pPr>
            <a:r>
              <a:rPr lang="en-US" sz="2034" dirty="0">
                <a:solidFill>
                  <a:srgbClr val="FFFFFF"/>
                </a:solidFill>
                <a:latin typeface="Poppins"/>
                <a:ea typeface="Poppins"/>
                <a:cs typeface="Poppins"/>
                <a:sym typeface="Poppins"/>
              </a:rPr>
              <a:t>2. Risk Scoring System</a:t>
            </a:r>
          </a:p>
        </p:txBody>
      </p:sp>
      <p:sp>
        <p:nvSpPr>
          <p:cNvPr id="11" name="TextBox 11"/>
          <p:cNvSpPr txBox="1"/>
          <p:nvPr/>
        </p:nvSpPr>
        <p:spPr>
          <a:xfrm>
            <a:off x="1166582" y="6436017"/>
            <a:ext cx="5930377" cy="1407719"/>
          </a:xfrm>
          <a:prstGeom prst="rect">
            <a:avLst/>
          </a:prstGeom>
        </p:spPr>
        <p:txBody>
          <a:bodyPr lIns="0" tIns="0" rIns="0" bIns="0" rtlCol="0" anchor="t">
            <a:spAutoFit/>
          </a:bodyPr>
          <a:lstStyle/>
          <a:p>
            <a:pPr algn="l">
              <a:lnSpc>
                <a:spcPts val="2242"/>
              </a:lnSpc>
              <a:spcBef>
                <a:spcPct val="0"/>
              </a:spcBef>
            </a:pPr>
            <a:r>
              <a:rPr lang="en-US" sz="1367" dirty="0">
                <a:solidFill>
                  <a:srgbClr val="FFFFFF"/>
                </a:solidFill>
                <a:latin typeface="Poppins"/>
                <a:ea typeface="Poppins"/>
                <a:cs typeface="Poppins"/>
                <a:sym typeface="Poppins"/>
              </a:rPr>
              <a:t>Each user and permission is assigned a risk score based on:</a:t>
            </a:r>
          </a:p>
          <a:p>
            <a:pPr algn="l">
              <a:lnSpc>
                <a:spcPts val="2242"/>
              </a:lnSpc>
              <a:spcBef>
                <a:spcPct val="0"/>
              </a:spcBef>
            </a:pPr>
            <a:r>
              <a:rPr lang="en-US" sz="1367" dirty="0">
                <a:solidFill>
                  <a:srgbClr val="FFFFFF"/>
                </a:solidFill>
                <a:latin typeface="Poppins"/>
                <a:ea typeface="Poppins"/>
                <a:cs typeface="Poppins"/>
                <a:sym typeface="Poppins"/>
              </a:rPr>
              <a:t>Access level (Admin, Write, Read)</a:t>
            </a:r>
          </a:p>
          <a:p>
            <a:pPr algn="l">
              <a:lnSpc>
                <a:spcPts val="2242"/>
              </a:lnSpc>
              <a:spcBef>
                <a:spcPct val="0"/>
              </a:spcBef>
            </a:pPr>
            <a:r>
              <a:rPr lang="en-US" sz="1367" dirty="0">
                <a:solidFill>
                  <a:srgbClr val="FFFFFF"/>
                </a:solidFill>
                <a:latin typeface="Poppins"/>
                <a:ea typeface="Poppins"/>
                <a:cs typeface="Poppins"/>
                <a:sym typeface="Poppins"/>
              </a:rPr>
              <a:t>Inactivity (last used)</a:t>
            </a:r>
          </a:p>
          <a:p>
            <a:pPr algn="l">
              <a:lnSpc>
                <a:spcPts val="2242"/>
              </a:lnSpc>
              <a:spcBef>
                <a:spcPct val="0"/>
              </a:spcBef>
            </a:pPr>
            <a:r>
              <a:rPr lang="en-US" sz="1367" dirty="0">
                <a:solidFill>
                  <a:srgbClr val="FFFFFF"/>
                </a:solidFill>
                <a:latin typeface="Poppins"/>
                <a:ea typeface="Poppins"/>
                <a:cs typeface="Poppins"/>
                <a:sym typeface="Poppins"/>
              </a:rPr>
              <a:t>Number of permissions</a:t>
            </a:r>
          </a:p>
          <a:p>
            <a:pPr algn="l">
              <a:lnSpc>
                <a:spcPts val="2242"/>
              </a:lnSpc>
              <a:spcBef>
                <a:spcPct val="0"/>
              </a:spcBef>
            </a:pPr>
            <a:r>
              <a:rPr lang="en-US" sz="1367" dirty="0">
                <a:solidFill>
                  <a:srgbClr val="FFFFFF"/>
                </a:solidFill>
                <a:latin typeface="Poppins"/>
                <a:ea typeface="Poppins"/>
                <a:cs typeface="Poppins"/>
                <a:sym typeface="Poppins"/>
              </a:rPr>
              <a:t>This helps prioritize which users or roles require immediate attention.</a:t>
            </a:r>
          </a:p>
        </p:txBody>
      </p:sp>
      <p:sp>
        <p:nvSpPr>
          <p:cNvPr id="12" name="TextBox 12"/>
          <p:cNvSpPr txBox="1"/>
          <p:nvPr/>
        </p:nvSpPr>
        <p:spPr>
          <a:xfrm>
            <a:off x="1028700" y="8070578"/>
            <a:ext cx="4132302" cy="410164"/>
          </a:xfrm>
          <a:prstGeom prst="rect">
            <a:avLst/>
          </a:prstGeom>
        </p:spPr>
        <p:txBody>
          <a:bodyPr lIns="0" tIns="0" rIns="0" bIns="0" rtlCol="0" anchor="t">
            <a:spAutoFit/>
          </a:bodyPr>
          <a:lstStyle/>
          <a:p>
            <a:pPr algn="ctr">
              <a:lnSpc>
                <a:spcPts val="3337"/>
              </a:lnSpc>
              <a:spcBef>
                <a:spcPct val="0"/>
              </a:spcBef>
            </a:pPr>
            <a:r>
              <a:rPr lang="en-US" sz="2034">
                <a:solidFill>
                  <a:srgbClr val="FFFFFF"/>
                </a:solidFill>
                <a:latin typeface="Poppins"/>
                <a:ea typeface="Poppins"/>
                <a:cs typeface="Poppins"/>
                <a:sym typeface="Poppins"/>
              </a:rPr>
              <a:t>3. Detailed User Permission View</a:t>
            </a:r>
          </a:p>
        </p:txBody>
      </p:sp>
      <p:sp>
        <p:nvSpPr>
          <p:cNvPr id="13" name="TextBox 13"/>
          <p:cNvSpPr txBox="1"/>
          <p:nvPr/>
        </p:nvSpPr>
        <p:spPr>
          <a:xfrm>
            <a:off x="1111849" y="8547417"/>
            <a:ext cx="5483455" cy="1469638"/>
          </a:xfrm>
          <a:prstGeom prst="rect">
            <a:avLst/>
          </a:prstGeom>
        </p:spPr>
        <p:txBody>
          <a:bodyPr lIns="0" tIns="0" rIns="0" bIns="0" rtlCol="0" anchor="t">
            <a:spAutoFit/>
          </a:bodyPr>
          <a:lstStyle/>
          <a:p>
            <a:pPr algn="l">
              <a:lnSpc>
                <a:spcPts val="2330"/>
              </a:lnSpc>
              <a:spcBef>
                <a:spcPct val="0"/>
              </a:spcBef>
            </a:pPr>
            <a:r>
              <a:rPr lang="en-US" sz="1421">
                <a:solidFill>
                  <a:srgbClr val="FFFFFF"/>
                </a:solidFill>
                <a:latin typeface="Poppins"/>
                <a:ea typeface="Poppins"/>
                <a:cs typeface="Poppins"/>
                <a:sym typeface="Poppins"/>
              </a:rPr>
              <a:t>A deep-dive screen showing:</a:t>
            </a:r>
          </a:p>
          <a:p>
            <a:pPr algn="l">
              <a:lnSpc>
                <a:spcPts val="2330"/>
              </a:lnSpc>
              <a:spcBef>
                <a:spcPct val="0"/>
              </a:spcBef>
            </a:pPr>
            <a:r>
              <a:rPr lang="en-US" sz="1421">
                <a:solidFill>
                  <a:srgbClr val="FFFFFF"/>
                </a:solidFill>
                <a:latin typeface="Poppins"/>
                <a:ea typeface="Poppins"/>
                <a:cs typeface="Poppins"/>
                <a:sym typeface="Poppins"/>
              </a:rPr>
              <a:t>Permission breakdown by service (e.g., S3, IAM, RDS)</a:t>
            </a:r>
          </a:p>
          <a:p>
            <a:pPr algn="l">
              <a:lnSpc>
                <a:spcPts val="2330"/>
              </a:lnSpc>
              <a:spcBef>
                <a:spcPct val="0"/>
              </a:spcBef>
            </a:pPr>
            <a:r>
              <a:rPr lang="en-US" sz="1421">
                <a:solidFill>
                  <a:srgbClr val="FFFFFF"/>
                </a:solidFill>
                <a:latin typeface="Poppins"/>
                <a:ea typeface="Poppins"/>
                <a:cs typeface="Poppins"/>
                <a:sym typeface="Poppins"/>
              </a:rPr>
              <a:t>Last accessed data</a:t>
            </a:r>
          </a:p>
          <a:p>
            <a:pPr algn="l">
              <a:lnSpc>
                <a:spcPts val="2330"/>
              </a:lnSpc>
              <a:spcBef>
                <a:spcPct val="0"/>
              </a:spcBef>
            </a:pPr>
            <a:r>
              <a:rPr lang="en-US" sz="1421">
                <a:solidFill>
                  <a:srgbClr val="FFFFFF"/>
                </a:solidFill>
                <a:latin typeface="Poppins"/>
                <a:ea typeface="Poppins"/>
                <a:cs typeface="Poppins"/>
                <a:sym typeface="Poppins"/>
              </a:rPr>
              <a:t>Risk contribution factors</a:t>
            </a:r>
          </a:p>
          <a:p>
            <a:pPr algn="l">
              <a:lnSpc>
                <a:spcPts val="2330"/>
              </a:lnSpc>
              <a:spcBef>
                <a:spcPct val="0"/>
              </a:spcBef>
            </a:pPr>
            <a:r>
              <a:rPr lang="en-US" sz="1421">
                <a:solidFill>
                  <a:srgbClr val="FFFFFF"/>
                </a:solidFill>
                <a:latin typeface="Poppins"/>
                <a:ea typeface="Poppins"/>
                <a:cs typeface="Poppins"/>
                <a:sym typeface="Poppins"/>
              </a:rPr>
              <a:t>This improves visibility and helps in precise decision-making.</a:t>
            </a:r>
          </a:p>
        </p:txBody>
      </p:sp>
      <p:sp>
        <p:nvSpPr>
          <p:cNvPr id="14" name="TextBox 14"/>
          <p:cNvSpPr txBox="1"/>
          <p:nvPr/>
        </p:nvSpPr>
        <p:spPr>
          <a:xfrm>
            <a:off x="8621050" y="3959963"/>
            <a:ext cx="4174688" cy="410164"/>
          </a:xfrm>
          <a:prstGeom prst="rect">
            <a:avLst/>
          </a:prstGeom>
        </p:spPr>
        <p:txBody>
          <a:bodyPr lIns="0" tIns="0" rIns="0" bIns="0" rtlCol="0" anchor="t">
            <a:spAutoFit/>
          </a:bodyPr>
          <a:lstStyle/>
          <a:p>
            <a:pPr algn="ctr">
              <a:lnSpc>
                <a:spcPts val="3337"/>
              </a:lnSpc>
              <a:spcBef>
                <a:spcPct val="0"/>
              </a:spcBef>
            </a:pPr>
            <a:r>
              <a:rPr lang="en-US" sz="2034">
                <a:solidFill>
                  <a:srgbClr val="FFFFFF"/>
                </a:solidFill>
                <a:latin typeface="Poppins"/>
                <a:ea typeface="Poppins"/>
                <a:cs typeface="Poppins"/>
                <a:sym typeface="Poppins"/>
              </a:rPr>
              <a:t>4. Actionable Remediation Panel</a:t>
            </a:r>
          </a:p>
        </p:txBody>
      </p:sp>
      <p:sp>
        <p:nvSpPr>
          <p:cNvPr id="15" name="TextBox 15"/>
          <p:cNvSpPr txBox="1"/>
          <p:nvPr/>
        </p:nvSpPr>
        <p:spPr>
          <a:xfrm>
            <a:off x="9021292" y="4541051"/>
            <a:ext cx="4497736" cy="1427595"/>
          </a:xfrm>
          <a:prstGeom prst="rect">
            <a:avLst/>
          </a:prstGeom>
        </p:spPr>
        <p:txBody>
          <a:bodyPr lIns="0" tIns="0" rIns="0" bIns="0" rtlCol="0" anchor="t">
            <a:spAutoFit/>
          </a:bodyPr>
          <a:lstStyle/>
          <a:p>
            <a:pPr algn="l">
              <a:lnSpc>
                <a:spcPts val="2275"/>
              </a:lnSpc>
              <a:spcBef>
                <a:spcPct val="0"/>
              </a:spcBef>
            </a:pPr>
            <a:r>
              <a:rPr lang="en-US" sz="1387">
                <a:solidFill>
                  <a:srgbClr val="FFFFFF"/>
                </a:solidFill>
                <a:latin typeface="Poppins"/>
                <a:ea typeface="Poppins"/>
                <a:cs typeface="Poppins"/>
                <a:sym typeface="Poppins"/>
              </a:rPr>
              <a:t>Allows users to take quick actions such as:</a:t>
            </a:r>
          </a:p>
          <a:p>
            <a:pPr algn="l">
              <a:lnSpc>
                <a:spcPts val="2275"/>
              </a:lnSpc>
              <a:spcBef>
                <a:spcPct val="0"/>
              </a:spcBef>
            </a:pPr>
            <a:r>
              <a:rPr lang="en-US" sz="1387">
                <a:solidFill>
                  <a:srgbClr val="FFFFFF"/>
                </a:solidFill>
                <a:latin typeface="Poppins"/>
                <a:ea typeface="Poppins"/>
                <a:cs typeface="Poppins"/>
                <a:sym typeface="Poppins"/>
              </a:rPr>
              <a:t>Removing unused permissions</a:t>
            </a:r>
          </a:p>
          <a:p>
            <a:pPr algn="l">
              <a:lnSpc>
                <a:spcPts val="2275"/>
              </a:lnSpc>
              <a:spcBef>
                <a:spcPct val="0"/>
              </a:spcBef>
            </a:pPr>
            <a:r>
              <a:rPr lang="en-US" sz="1387">
                <a:solidFill>
                  <a:srgbClr val="FFFFFF"/>
                </a:solidFill>
                <a:latin typeface="Poppins"/>
                <a:ea typeface="Poppins"/>
                <a:cs typeface="Poppins"/>
                <a:sym typeface="Poppins"/>
              </a:rPr>
              <a:t>Downgrading access levels</a:t>
            </a:r>
          </a:p>
          <a:p>
            <a:pPr algn="l">
              <a:lnSpc>
                <a:spcPts val="2275"/>
              </a:lnSpc>
              <a:spcBef>
                <a:spcPct val="0"/>
              </a:spcBef>
            </a:pPr>
            <a:r>
              <a:rPr lang="en-US" sz="1387">
                <a:solidFill>
                  <a:srgbClr val="FFFFFF"/>
                </a:solidFill>
                <a:latin typeface="Poppins"/>
                <a:ea typeface="Poppins"/>
                <a:cs typeface="Poppins"/>
                <a:sym typeface="Poppins"/>
              </a:rPr>
              <a:t>Marking permissions as safe</a:t>
            </a:r>
          </a:p>
          <a:p>
            <a:pPr algn="l">
              <a:lnSpc>
                <a:spcPts val="2275"/>
              </a:lnSpc>
              <a:spcBef>
                <a:spcPct val="0"/>
              </a:spcBef>
            </a:pPr>
            <a:r>
              <a:rPr lang="en-US" sz="1387">
                <a:solidFill>
                  <a:srgbClr val="FFFFFF"/>
                </a:solidFill>
                <a:latin typeface="Poppins"/>
                <a:ea typeface="Poppins"/>
                <a:cs typeface="Poppins"/>
                <a:sym typeface="Poppins"/>
              </a:rPr>
              <a:t>This reduces the time required to fix security issues.</a:t>
            </a:r>
          </a:p>
        </p:txBody>
      </p:sp>
      <p:sp>
        <p:nvSpPr>
          <p:cNvPr id="16" name="TextBox 16"/>
          <p:cNvSpPr txBox="1"/>
          <p:nvPr/>
        </p:nvSpPr>
        <p:spPr>
          <a:xfrm>
            <a:off x="8771928" y="6100929"/>
            <a:ext cx="3114437" cy="410164"/>
          </a:xfrm>
          <a:prstGeom prst="rect">
            <a:avLst/>
          </a:prstGeom>
        </p:spPr>
        <p:txBody>
          <a:bodyPr lIns="0" tIns="0" rIns="0" bIns="0" rtlCol="0" anchor="t">
            <a:spAutoFit/>
          </a:bodyPr>
          <a:lstStyle/>
          <a:p>
            <a:pPr algn="ctr">
              <a:lnSpc>
                <a:spcPts val="3337"/>
              </a:lnSpc>
              <a:spcBef>
                <a:spcPct val="0"/>
              </a:spcBef>
            </a:pPr>
            <a:r>
              <a:rPr lang="en-US" sz="2034">
                <a:solidFill>
                  <a:srgbClr val="FFFFFF"/>
                </a:solidFill>
                <a:latin typeface="Poppins"/>
                <a:ea typeface="Poppins"/>
                <a:cs typeface="Poppins"/>
                <a:sym typeface="Poppins"/>
              </a:rPr>
              <a:t>5. Smart Filters &amp; Search</a:t>
            </a:r>
          </a:p>
        </p:txBody>
      </p:sp>
      <p:sp>
        <p:nvSpPr>
          <p:cNvPr id="17" name="TextBox 17"/>
          <p:cNvSpPr txBox="1"/>
          <p:nvPr/>
        </p:nvSpPr>
        <p:spPr>
          <a:xfrm>
            <a:off x="9021292" y="6682543"/>
            <a:ext cx="5446936" cy="624972"/>
          </a:xfrm>
          <a:prstGeom prst="rect">
            <a:avLst/>
          </a:prstGeom>
        </p:spPr>
        <p:txBody>
          <a:bodyPr lIns="0" tIns="0" rIns="0" bIns="0" rtlCol="0" anchor="t">
            <a:spAutoFit/>
          </a:bodyPr>
          <a:lstStyle/>
          <a:p>
            <a:pPr algn="l">
              <a:lnSpc>
                <a:spcPts val="2527"/>
              </a:lnSpc>
              <a:spcBef>
                <a:spcPct val="0"/>
              </a:spcBef>
            </a:pPr>
            <a:r>
              <a:rPr lang="en-US" sz="1541">
                <a:solidFill>
                  <a:srgbClr val="FFFFFF"/>
                </a:solidFill>
                <a:latin typeface="Poppins"/>
                <a:ea typeface="Poppins"/>
                <a:cs typeface="Poppins"/>
                <a:sym typeface="Poppins"/>
              </a:rPr>
              <a:t>Enables filtering by role, risk level, and activity to quickly locate problematic users or permissions.</a:t>
            </a:r>
          </a:p>
        </p:txBody>
      </p:sp>
      <p:sp>
        <p:nvSpPr>
          <p:cNvPr id="18" name="TextBox 18"/>
          <p:cNvSpPr txBox="1"/>
          <p:nvPr/>
        </p:nvSpPr>
        <p:spPr>
          <a:xfrm>
            <a:off x="7736860" y="7364665"/>
            <a:ext cx="2814280" cy="688534"/>
          </a:xfrm>
          <a:prstGeom prst="rect">
            <a:avLst/>
          </a:prstGeom>
        </p:spPr>
        <p:txBody>
          <a:bodyPr lIns="0" tIns="0" rIns="0" bIns="0" rtlCol="0" anchor="t">
            <a:spAutoFit/>
          </a:bodyPr>
          <a:lstStyle/>
          <a:p>
            <a:pPr algn="ctr">
              <a:lnSpc>
                <a:spcPts val="5510"/>
              </a:lnSpc>
              <a:spcBef>
                <a:spcPct val="0"/>
              </a:spcBef>
            </a:pPr>
            <a:r>
              <a:rPr lang="en-US" sz="3360" b="1">
                <a:solidFill>
                  <a:srgbClr val="FFFFFF"/>
                </a:solidFill>
                <a:latin typeface="Poppins Bold"/>
                <a:ea typeface="Poppins Bold"/>
                <a:cs typeface="Poppins Bold"/>
                <a:sym typeface="Poppins Bold"/>
              </a:rPr>
              <a:t>Prioritization</a:t>
            </a:r>
          </a:p>
        </p:txBody>
      </p:sp>
      <p:sp>
        <p:nvSpPr>
          <p:cNvPr id="19" name="TextBox 19"/>
          <p:cNvSpPr txBox="1"/>
          <p:nvPr/>
        </p:nvSpPr>
        <p:spPr>
          <a:xfrm>
            <a:off x="7736860" y="8094494"/>
            <a:ext cx="7738141" cy="1226674"/>
          </a:xfrm>
          <a:prstGeom prst="rect">
            <a:avLst/>
          </a:prstGeom>
        </p:spPr>
        <p:txBody>
          <a:bodyPr lIns="0" tIns="0" rIns="0" bIns="0" rtlCol="0" anchor="t">
            <a:spAutoFit/>
          </a:bodyPr>
          <a:lstStyle/>
          <a:p>
            <a:pPr marL="323446" lvl="1" indent="-161723" algn="l">
              <a:lnSpc>
                <a:spcPts val="2456"/>
              </a:lnSpc>
              <a:buFont typeface="Arial"/>
              <a:buChar char="•"/>
            </a:pPr>
            <a:r>
              <a:rPr lang="en-US" sz="1498">
                <a:solidFill>
                  <a:srgbClr val="FFFFFF"/>
                </a:solidFill>
                <a:latin typeface="Poppins"/>
                <a:ea typeface="Poppins"/>
                <a:cs typeface="Poppins"/>
                <a:sym typeface="Poppins"/>
              </a:rPr>
              <a:t>P1 (High Priority): Dashboard visibility, risk scoring, user-level analysis</a:t>
            </a:r>
          </a:p>
          <a:p>
            <a:pPr marL="323446" lvl="1" indent="-161723" algn="l">
              <a:lnSpc>
                <a:spcPts val="2456"/>
              </a:lnSpc>
              <a:buFont typeface="Arial"/>
              <a:buChar char="•"/>
            </a:pPr>
            <a:r>
              <a:rPr lang="en-US" sz="1498">
                <a:solidFill>
                  <a:srgbClr val="FFFFFF"/>
                </a:solidFill>
                <a:latin typeface="Poppins"/>
                <a:ea typeface="Poppins"/>
                <a:cs typeface="Poppins"/>
                <a:sym typeface="Poppins"/>
              </a:rPr>
              <a:t>P2 (Medium Priority): Filtering and search functionality</a:t>
            </a:r>
          </a:p>
          <a:p>
            <a:pPr marL="323446" lvl="1" indent="-161723" algn="l">
              <a:lnSpc>
                <a:spcPts val="2456"/>
              </a:lnSpc>
              <a:buFont typeface="Arial"/>
              <a:buChar char="•"/>
            </a:pPr>
            <a:r>
              <a:rPr lang="en-US" sz="1498">
                <a:solidFill>
                  <a:srgbClr val="FFFFFF"/>
                </a:solidFill>
                <a:latin typeface="Poppins"/>
                <a:ea typeface="Poppins"/>
                <a:cs typeface="Poppins"/>
                <a:sym typeface="Poppins"/>
              </a:rPr>
              <a:t>P3 (Low Priority): Automated recommendations and advanced insights</a:t>
            </a:r>
          </a:p>
          <a:p>
            <a:pPr marL="323446" lvl="1" indent="-161723" algn="l">
              <a:lnSpc>
                <a:spcPts val="2456"/>
              </a:lnSpc>
              <a:buFont typeface="Arial"/>
              <a:buChar char="•"/>
            </a:pPr>
            <a:r>
              <a:rPr lang="en-US" sz="1498">
                <a:solidFill>
                  <a:srgbClr val="FFFFFF"/>
                </a:solidFill>
                <a:latin typeface="Poppins"/>
                <a:ea typeface="Poppins"/>
                <a:cs typeface="Poppins"/>
                <a:sym typeface="Poppins"/>
              </a:rPr>
              <a:t>The focus is first on visibility and clarity, followed by efficiency and automation</a:t>
            </a:r>
          </a:p>
        </p:txBody>
      </p:sp>
      <p:sp>
        <p:nvSpPr>
          <p:cNvPr id="20" name="TextBox 20"/>
          <p:cNvSpPr txBox="1"/>
          <p:nvPr/>
        </p:nvSpPr>
        <p:spPr>
          <a:xfrm>
            <a:off x="13519028" y="3137498"/>
            <a:ext cx="3155851" cy="612978"/>
          </a:xfrm>
          <a:prstGeom prst="rect">
            <a:avLst/>
          </a:prstGeom>
        </p:spPr>
        <p:txBody>
          <a:bodyPr lIns="0" tIns="0" rIns="0" bIns="0" rtlCol="0" anchor="t">
            <a:spAutoFit/>
          </a:bodyPr>
          <a:lstStyle/>
          <a:p>
            <a:pPr algn="ctr">
              <a:lnSpc>
                <a:spcPts val="4929"/>
              </a:lnSpc>
              <a:spcBef>
                <a:spcPct val="0"/>
              </a:spcBef>
            </a:pPr>
            <a:r>
              <a:rPr lang="en-US" sz="3005" b="1">
                <a:solidFill>
                  <a:srgbClr val="FFFFFF"/>
                </a:solidFill>
                <a:latin typeface="Poppins Bold"/>
                <a:ea typeface="Poppins Bold"/>
                <a:cs typeface="Poppins Bold"/>
                <a:sym typeface="Poppins Bold"/>
              </a:rPr>
              <a:t>Success Metrics</a:t>
            </a:r>
          </a:p>
        </p:txBody>
      </p:sp>
      <p:sp>
        <p:nvSpPr>
          <p:cNvPr id="21" name="TextBox 21"/>
          <p:cNvSpPr txBox="1"/>
          <p:nvPr/>
        </p:nvSpPr>
        <p:spPr>
          <a:xfrm>
            <a:off x="13519028" y="3817330"/>
            <a:ext cx="4568793" cy="247408"/>
          </a:xfrm>
          <a:prstGeom prst="rect">
            <a:avLst/>
          </a:prstGeom>
        </p:spPr>
        <p:txBody>
          <a:bodyPr lIns="0" tIns="0" rIns="0" bIns="0" rtlCol="0" anchor="t">
            <a:spAutoFit/>
          </a:bodyPr>
          <a:lstStyle/>
          <a:p>
            <a:pPr algn="ctr">
              <a:lnSpc>
                <a:spcPts val="2079"/>
              </a:lnSpc>
              <a:spcBef>
                <a:spcPct val="0"/>
              </a:spcBef>
            </a:pPr>
            <a:r>
              <a:rPr lang="en-US" sz="1267">
                <a:solidFill>
                  <a:srgbClr val="FFFFFF"/>
                </a:solidFill>
                <a:latin typeface="Poppins"/>
                <a:ea typeface="Poppins"/>
                <a:cs typeface="Poppins"/>
                <a:sym typeface="Poppins"/>
              </a:rPr>
              <a:t>The effectiveness of the solution can be measured using:</a:t>
            </a:r>
          </a:p>
        </p:txBody>
      </p:sp>
      <p:sp>
        <p:nvSpPr>
          <p:cNvPr id="22" name="TextBox 22"/>
          <p:cNvSpPr txBox="1"/>
          <p:nvPr/>
        </p:nvSpPr>
        <p:spPr>
          <a:xfrm>
            <a:off x="13512497" y="4413944"/>
            <a:ext cx="4145755" cy="1358412"/>
          </a:xfrm>
          <a:prstGeom prst="rect">
            <a:avLst/>
          </a:prstGeom>
        </p:spPr>
        <p:txBody>
          <a:bodyPr lIns="0" tIns="0" rIns="0" bIns="0" rtlCol="0" anchor="t">
            <a:spAutoFit/>
          </a:bodyPr>
          <a:lstStyle/>
          <a:p>
            <a:pPr marL="286361" lvl="1" indent="-143181" algn="l">
              <a:lnSpc>
                <a:spcPts val="2175"/>
              </a:lnSpc>
              <a:buFont typeface="Arial"/>
              <a:buChar char="•"/>
            </a:pPr>
            <a:r>
              <a:rPr lang="en-US" sz="1326" dirty="0">
                <a:solidFill>
                  <a:srgbClr val="FFFFFF"/>
                </a:solidFill>
                <a:latin typeface="Poppins"/>
                <a:ea typeface="Poppins"/>
                <a:cs typeface="Poppins"/>
                <a:sym typeface="Poppins"/>
              </a:rPr>
              <a:t>Reduction in high-risk permissions (%)</a:t>
            </a:r>
          </a:p>
          <a:p>
            <a:pPr marL="286361" lvl="1" indent="-143181" algn="l">
              <a:lnSpc>
                <a:spcPts val="2175"/>
              </a:lnSpc>
              <a:buFont typeface="Arial"/>
              <a:buChar char="•"/>
            </a:pPr>
            <a:r>
              <a:rPr lang="en-US" sz="1326" dirty="0">
                <a:solidFill>
                  <a:srgbClr val="FFFFFF"/>
                </a:solidFill>
                <a:latin typeface="Poppins"/>
                <a:ea typeface="Poppins"/>
                <a:cs typeface="Poppins"/>
                <a:sym typeface="Poppins"/>
              </a:rPr>
              <a:t>Time taken to identify and resolve IAM issues</a:t>
            </a:r>
          </a:p>
          <a:p>
            <a:pPr marL="286361" lvl="1" indent="-143181" algn="l">
              <a:lnSpc>
                <a:spcPts val="2175"/>
              </a:lnSpc>
              <a:buFont typeface="Arial"/>
              <a:buChar char="•"/>
            </a:pPr>
            <a:r>
              <a:rPr lang="en-US" sz="1326" dirty="0">
                <a:solidFill>
                  <a:srgbClr val="FFFFFF"/>
                </a:solidFill>
                <a:latin typeface="Poppins"/>
                <a:ea typeface="Poppins"/>
                <a:cs typeface="Poppins"/>
                <a:sym typeface="Poppins"/>
              </a:rPr>
              <a:t>Number of unused permissions removed</a:t>
            </a:r>
          </a:p>
          <a:p>
            <a:pPr marL="286361" lvl="1" indent="-143181" algn="l">
              <a:lnSpc>
                <a:spcPts val="2175"/>
              </a:lnSpc>
              <a:buFont typeface="Arial"/>
              <a:buChar char="•"/>
            </a:pPr>
            <a:r>
              <a:rPr lang="en-US" sz="1326" dirty="0">
                <a:solidFill>
                  <a:srgbClr val="FFFFFF"/>
                </a:solidFill>
                <a:latin typeface="Poppins"/>
                <a:ea typeface="Poppins"/>
                <a:cs typeface="Poppins"/>
                <a:sym typeface="Poppins"/>
              </a:rPr>
              <a:t>User engagement with remediation actions</a:t>
            </a:r>
          </a:p>
          <a:p>
            <a:pPr marL="286361" lvl="1" indent="-143181" algn="l">
              <a:lnSpc>
                <a:spcPts val="2175"/>
              </a:lnSpc>
              <a:buFont typeface="Arial"/>
              <a:buChar char="•"/>
            </a:pPr>
            <a:r>
              <a:rPr lang="en-US" sz="1326" dirty="0">
                <a:solidFill>
                  <a:srgbClr val="FFFFFF"/>
                </a:solidFill>
                <a:latin typeface="Poppins"/>
                <a:ea typeface="Poppins"/>
                <a:cs typeface="Poppins"/>
                <a:sym typeface="Poppins"/>
              </a:rPr>
              <a:t>Improvement in overall security posture score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6145841">
            <a:off x="11979303" y="677171"/>
            <a:ext cx="1423225" cy="1296429"/>
          </a:xfrm>
          <a:custGeom>
            <a:avLst/>
            <a:gdLst/>
            <a:ahLst/>
            <a:cxnLst/>
            <a:rect l="l" t="t" r="r" b="b"/>
            <a:pathLst>
              <a:path w="1423225" h="1296429">
                <a:moveTo>
                  <a:pt x="0" y="0"/>
                </a:moveTo>
                <a:lnTo>
                  <a:pt x="1423225" y="0"/>
                </a:lnTo>
                <a:lnTo>
                  <a:pt x="1423225" y="1296429"/>
                </a:lnTo>
                <a:lnTo>
                  <a:pt x="0" y="129642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682810" y="1313002"/>
            <a:ext cx="6922380" cy="1609091"/>
          </a:xfrm>
          <a:prstGeom prst="rect">
            <a:avLst/>
          </a:prstGeom>
        </p:spPr>
        <p:txBody>
          <a:bodyPr lIns="0" tIns="0" rIns="0" bIns="0" rtlCol="0" anchor="t">
            <a:spAutoFit/>
          </a:bodyPr>
          <a:lstStyle/>
          <a:p>
            <a:pPr marL="0" lvl="1" indent="0" algn="ctr">
              <a:lnSpc>
                <a:spcPts val="11330"/>
              </a:lnSpc>
              <a:spcBef>
                <a:spcPct val="0"/>
              </a:spcBef>
            </a:pPr>
            <a:r>
              <a:rPr lang="en-US" sz="11000" u="none" strike="noStrike">
                <a:solidFill>
                  <a:srgbClr val="F4ECE5"/>
                </a:solidFill>
                <a:latin typeface="Bryndan Write"/>
                <a:ea typeface="Bryndan Write"/>
                <a:cs typeface="Bryndan Write"/>
                <a:sym typeface="Bryndan Write"/>
              </a:rPr>
              <a:t>Problems</a:t>
            </a:r>
          </a:p>
        </p:txBody>
      </p:sp>
      <p:sp>
        <p:nvSpPr>
          <p:cNvPr id="5" name="Freeform 5"/>
          <p:cNvSpPr/>
          <p:nvPr/>
        </p:nvSpPr>
        <p:spPr>
          <a:xfrm rot="-4274272">
            <a:off x="4674778" y="2047626"/>
            <a:ext cx="1423225" cy="1296429"/>
          </a:xfrm>
          <a:custGeom>
            <a:avLst/>
            <a:gdLst/>
            <a:ahLst/>
            <a:cxnLst/>
            <a:rect l="l" t="t" r="r" b="b"/>
            <a:pathLst>
              <a:path w="1423225" h="1296429">
                <a:moveTo>
                  <a:pt x="0" y="0"/>
                </a:moveTo>
                <a:lnTo>
                  <a:pt x="1423224" y="0"/>
                </a:lnTo>
                <a:lnTo>
                  <a:pt x="1423224" y="1296428"/>
                </a:lnTo>
                <a:lnTo>
                  <a:pt x="0" y="129642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TextBox 6"/>
          <p:cNvSpPr txBox="1"/>
          <p:nvPr/>
        </p:nvSpPr>
        <p:spPr>
          <a:xfrm>
            <a:off x="0" y="4011473"/>
            <a:ext cx="17154317" cy="289502"/>
          </a:xfrm>
          <a:prstGeom prst="rect">
            <a:avLst/>
          </a:prstGeom>
        </p:spPr>
        <p:txBody>
          <a:bodyPr lIns="0" tIns="0" rIns="0" bIns="0" rtlCol="0" anchor="t">
            <a:spAutoFit/>
          </a:bodyPr>
          <a:lstStyle/>
          <a:p>
            <a:pPr algn="ctr">
              <a:lnSpc>
                <a:spcPts val="2093"/>
              </a:lnSpc>
              <a:spcBef>
                <a:spcPct val="0"/>
              </a:spcBef>
            </a:pPr>
            <a:r>
              <a:rPr lang="en-US" sz="2032" b="1">
                <a:solidFill>
                  <a:srgbClr val="F4ECE5"/>
                </a:solidFill>
                <a:latin typeface="Poppins Bold"/>
                <a:ea typeface="Poppins Bold"/>
                <a:cs typeface="Poppins Bold"/>
                <a:sym typeface="Poppins Bold"/>
              </a:rPr>
              <a:t>In large cloud environments, IAM roles often become overly permissive due to poor visibility and lack of monitoring. Over time:</a:t>
            </a:r>
          </a:p>
        </p:txBody>
      </p:sp>
      <p:sp>
        <p:nvSpPr>
          <p:cNvPr id="7" name="TextBox 7"/>
          <p:cNvSpPr txBox="1"/>
          <p:nvPr/>
        </p:nvSpPr>
        <p:spPr>
          <a:xfrm>
            <a:off x="605030" y="4567301"/>
            <a:ext cx="6642735" cy="1171448"/>
          </a:xfrm>
          <a:prstGeom prst="rect">
            <a:avLst/>
          </a:prstGeom>
        </p:spPr>
        <p:txBody>
          <a:bodyPr lIns="0" tIns="0" rIns="0" bIns="0" rtlCol="0" anchor="t">
            <a:spAutoFit/>
          </a:bodyPr>
          <a:lstStyle/>
          <a:p>
            <a:pPr marL="474976" lvl="1" indent="-237488" algn="l">
              <a:lnSpc>
                <a:spcPts val="2265"/>
              </a:lnSpc>
              <a:spcBef>
                <a:spcPct val="0"/>
              </a:spcBef>
              <a:buFont typeface="Arial"/>
              <a:buChar char="•"/>
            </a:pPr>
            <a:r>
              <a:rPr lang="en-US" sz="2199">
                <a:solidFill>
                  <a:srgbClr val="F4ECE5"/>
                </a:solidFill>
                <a:latin typeface="Poppins"/>
                <a:ea typeface="Poppins"/>
                <a:cs typeface="Poppins"/>
                <a:sym typeface="Poppins"/>
              </a:rPr>
              <a:t>Users accumulate unnecessary permissions</a:t>
            </a:r>
          </a:p>
          <a:p>
            <a:pPr marL="474976" lvl="1" indent="-237488" algn="l">
              <a:lnSpc>
                <a:spcPts val="2265"/>
              </a:lnSpc>
              <a:spcBef>
                <a:spcPct val="0"/>
              </a:spcBef>
              <a:buFont typeface="Arial"/>
              <a:buChar char="•"/>
            </a:pPr>
            <a:r>
              <a:rPr lang="en-US" sz="2199">
                <a:solidFill>
                  <a:srgbClr val="F4ECE5"/>
                </a:solidFill>
                <a:latin typeface="Poppins"/>
                <a:ea typeface="Poppins"/>
                <a:cs typeface="Poppins"/>
                <a:sym typeface="Poppins"/>
              </a:rPr>
              <a:t>Roles are rarely audited</a:t>
            </a:r>
          </a:p>
          <a:p>
            <a:pPr marL="474976" lvl="1" indent="-237488" algn="l">
              <a:lnSpc>
                <a:spcPts val="2265"/>
              </a:lnSpc>
              <a:spcBef>
                <a:spcPct val="0"/>
              </a:spcBef>
              <a:buFont typeface="Arial"/>
              <a:buChar char="•"/>
            </a:pPr>
            <a:r>
              <a:rPr lang="en-US" sz="2199">
                <a:solidFill>
                  <a:srgbClr val="F4ECE5"/>
                </a:solidFill>
                <a:latin typeface="Poppins"/>
                <a:ea typeface="Poppins"/>
                <a:cs typeface="Poppins"/>
                <a:sym typeface="Poppins"/>
              </a:rPr>
              <a:t>Unused access remains active</a:t>
            </a:r>
          </a:p>
          <a:p>
            <a:pPr algn="l">
              <a:lnSpc>
                <a:spcPts val="2265"/>
              </a:lnSpc>
              <a:spcBef>
                <a:spcPct val="0"/>
              </a:spcBef>
            </a:pPr>
            <a:endParaRPr lang="en-US" sz="2199">
              <a:solidFill>
                <a:srgbClr val="F4ECE5"/>
              </a:solidFill>
              <a:latin typeface="Poppins"/>
              <a:ea typeface="Poppins"/>
              <a:cs typeface="Poppins"/>
              <a:sym typeface="Poppins"/>
            </a:endParaRPr>
          </a:p>
        </p:txBody>
      </p:sp>
      <p:sp>
        <p:nvSpPr>
          <p:cNvPr id="8" name="TextBox 8"/>
          <p:cNvSpPr txBox="1"/>
          <p:nvPr/>
        </p:nvSpPr>
        <p:spPr>
          <a:xfrm>
            <a:off x="-6613119" y="6005449"/>
            <a:ext cx="17154317" cy="289502"/>
          </a:xfrm>
          <a:prstGeom prst="rect">
            <a:avLst/>
          </a:prstGeom>
        </p:spPr>
        <p:txBody>
          <a:bodyPr lIns="0" tIns="0" rIns="0" bIns="0" rtlCol="0" anchor="t">
            <a:spAutoFit/>
          </a:bodyPr>
          <a:lstStyle/>
          <a:p>
            <a:pPr algn="ctr">
              <a:lnSpc>
                <a:spcPts val="2093"/>
              </a:lnSpc>
              <a:spcBef>
                <a:spcPct val="0"/>
              </a:spcBef>
            </a:pPr>
            <a:r>
              <a:rPr lang="en-US" sz="2032" b="1">
                <a:solidFill>
                  <a:srgbClr val="F4ECE5"/>
                </a:solidFill>
                <a:latin typeface="Poppins Bold"/>
                <a:ea typeface="Poppins Bold"/>
                <a:cs typeface="Poppins Bold"/>
                <a:sym typeface="Poppins Bold"/>
              </a:rPr>
              <a:t>This increases the risk of  :</a:t>
            </a:r>
          </a:p>
        </p:txBody>
      </p:sp>
      <p:sp>
        <p:nvSpPr>
          <p:cNvPr id="9" name="TextBox 9"/>
          <p:cNvSpPr txBox="1"/>
          <p:nvPr/>
        </p:nvSpPr>
        <p:spPr>
          <a:xfrm>
            <a:off x="605030" y="6561651"/>
            <a:ext cx="5447712" cy="1407923"/>
          </a:xfrm>
          <a:prstGeom prst="rect">
            <a:avLst/>
          </a:prstGeom>
        </p:spPr>
        <p:txBody>
          <a:bodyPr lIns="0" tIns="0" rIns="0" bIns="0" rtlCol="0" anchor="t">
            <a:spAutoFit/>
          </a:bodyPr>
          <a:lstStyle/>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Security breaches</a:t>
            </a:r>
          </a:p>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Misuse of critical resources</a:t>
            </a:r>
          </a:p>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Compliance issues</a:t>
            </a:r>
          </a:p>
          <a:p>
            <a:pPr algn="l">
              <a:lnSpc>
                <a:spcPts val="2187"/>
              </a:lnSpc>
              <a:spcBef>
                <a:spcPct val="0"/>
              </a:spcBef>
            </a:pPr>
            <a:endParaRPr lang="en-US" sz="2123">
              <a:solidFill>
                <a:srgbClr val="F4ECE5"/>
              </a:solidFill>
              <a:latin typeface="Poppins"/>
              <a:ea typeface="Poppins"/>
              <a:cs typeface="Poppins"/>
              <a:sym typeface="Poppins"/>
            </a:endParaRPr>
          </a:p>
          <a:p>
            <a:pPr algn="l">
              <a:lnSpc>
                <a:spcPts val="2187"/>
              </a:lnSpc>
              <a:spcBef>
                <a:spcPct val="0"/>
              </a:spcBef>
            </a:pPr>
            <a:endParaRPr lang="en-US" sz="2123">
              <a:solidFill>
                <a:srgbClr val="F4ECE5"/>
              </a:solidFill>
              <a:latin typeface="Poppins"/>
              <a:ea typeface="Poppins"/>
              <a:cs typeface="Poppins"/>
              <a:sym typeface="Poppins"/>
            </a:endParaRPr>
          </a:p>
        </p:txBody>
      </p:sp>
      <p:sp>
        <p:nvSpPr>
          <p:cNvPr id="10" name="TextBox 10"/>
          <p:cNvSpPr txBox="1"/>
          <p:nvPr/>
        </p:nvSpPr>
        <p:spPr>
          <a:xfrm>
            <a:off x="-4033421" y="7834348"/>
            <a:ext cx="17154317" cy="289502"/>
          </a:xfrm>
          <a:prstGeom prst="rect">
            <a:avLst/>
          </a:prstGeom>
        </p:spPr>
        <p:txBody>
          <a:bodyPr lIns="0" tIns="0" rIns="0" bIns="0" rtlCol="0" anchor="t">
            <a:spAutoFit/>
          </a:bodyPr>
          <a:lstStyle/>
          <a:p>
            <a:pPr algn="ctr">
              <a:lnSpc>
                <a:spcPts val="2093"/>
              </a:lnSpc>
              <a:spcBef>
                <a:spcPct val="0"/>
              </a:spcBef>
            </a:pPr>
            <a:r>
              <a:rPr lang="en-US" sz="2032" b="1">
                <a:solidFill>
                  <a:srgbClr val="F4ECE5"/>
                </a:solidFill>
                <a:latin typeface="Poppins Bold"/>
                <a:ea typeface="Poppins Bold"/>
                <a:cs typeface="Poppins Bold"/>
                <a:sym typeface="Poppins Bold"/>
              </a:rPr>
              <a:t>Security engineers currently lack a simple and intuitive way to:</a:t>
            </a:r>
          </a:p>
        </p:txBody>
      </p:sp>
      <p:sp>
        <p:nvSpPr>
          <p:cNvPr id="11" name="TextBox 11"/>
          <p:cNvSpPr txBox="1"/>
          <p:nvPr/>
        </p:nvSpPr>
        <p:spPr>
          <a:xfrm>
            <a:off x="605030" y="8552475"/>
            <a:ext cx="5447712" cy="1131698"/>
          </a:xfrm>
          <a:prstGeom prst="rect">
            <a:avLst/>
          </a:prstGeom>
        </p:spPr>
        <p:txBody>
          <a:bodyPr lIns="0" tIns="0" rIns="0" bIns="0" rtlCol="0" anchor="t">
            <a:spAutoFit/>
          </a:bodyPr>
          <a:lstStyle/>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Identify excessive permissions</a:t>
            </a:r>
          </a:p>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Detect unused access</a:t>
            </a:r>
          </a:p>
          <a:p>
            <a:pPr marL="458483" lvl="1" indent="-229241" algn="l">
              <a:lnSpc>
                <a:spcPts val="2187"/>
              </a:lnSpc>
              <a:spcBef>
                <a:spcPct val="0"/>
              </a:spcBef>
              <a:buFont typeface="Arial"/>
              <a:buChar char="•"/>
            </a:pPr>
            <a:r>
              <a:rPr lang="en-US" sz="2123">
                <a:solidFill>
                  <a:srgbClr val="F4ECE5"/>
                </a:solidFill>
                <a:latin typeface="Poppins"/>
                <a:ea typeface="Poppins"/>
                <a:cs typeface="Poppins"/>
                <a:sym typeface="Poppins"/>
              </a:rPr>
              <a:t>Take quick corrective actions</a:t>
            </a:r>
          </a:p>
          <a:p>
            <a:pPr algn="l">
              <a:lnSpc>
                <a:spcPts val="2187"/>
              </a:lnSpc>
              <a:spcBef>
                <a:spcPct val="0"/>
              </a:spcBef>
            </a:pPr>
            <a:endParaRPr lang="en-US" sz="2123">
              <a:solidFill>
                <a:srgbClr val="F4ECE5"/>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TextBox 3"/>
          <p:cNvSpPr txBox="1"/>
          <p:nvPr/>
        </p:nvSpPr>
        <p:spPr>
          <a:xfrm>
            <a:off x="5275878" y="1431360"/>
            <a:ext cx="7660127" cy="1364895"/>
          </a:xfrm>
          <a:prstGeom prst="rect">
            <a:avLst/>
          </a:prstGeom>
        </p:spPr>
        <p:txBody>
          <a:bodyPr lIns="0" tIns="0" rIns="0" bIns="0" rtlCol="0" anchor="t">
            <a:spAutoFit/>
          </a:bodyPr>
          <a:lstStyle/>
          <a:p>
            <a:pPr marL="0" lvl="1" indent="0" algn="ctr">
              <a:lnSpc>
                <a:spcPts val="9678"/>
              </a:lnSpc>
              <a:spcBef>
                <a:spcPct val="0"/>
              </a:spcBef>
            </a:pPr>
            <a:r>
              <a:rPr lang="en-US" sz="9397">
                <a:solidFill>
                  <a:srgbClr val="F4ECE5"/>
                </a:solidFill>
                <a:latin typeface="Bryndan Write"/>
                <a:ea typeface="Bryndan Write"/>
                <a:cs typeface="Bryndan Write"/>
                <a:sym typeface="Bryndan Write"/>
              </a:rPr>
              <a:t> Us</a:t>
            </a:r>
            <a:r>
              <a:rPr lang="en-US" sz="9397" u="none" strike="noStrike">
                <a:solidFill>
                  <a:srgbClr val="F4ECE5"/>
                </a:solidFill>
                <a:latin typeface="Bryndan Write"/>
                <a:ea typeface="Bryndan Write"/>
                <a:cs typeface="Bryndan Write"/>
                <a:sym typeface="Bryndan Write"/>
              </a:rPr>
              <a:t>er Persona</a:t>
            </a:r>
          </a:p>
        </p:txBody>
      </p:sp>
      <p:grpSp>
        <p:nvGrpSpPr>
          <p:cNvPr id="4" name="Group 4"/>
          <p:cNvGrpSpPr/>
          <p:nvPr/>
        </p:nvGrpSpPr>
        <p:grpSpPr>
          <a:xfrm>
            <a:off x="1637433" y="4672023"/>
            <a:ext cx="1689684" cy="1689684"/>
            <a:chOff x="0" y="0"/>
            <a:chExt cx="812800" cy="812800"/>
          </a:xfrm>
        </p:grpSpPr>
        <p:sp>
          <p:nvSpPr>
            <p:cNvPr id="5" name="Freeform 5"/>
            <p:cNvSpPr/>
            <p:nvPr/>
          </p:nvSpPr>
          <p:spPr>
            <a:xfrm>
              <a:off x="0" y="0"/>
              <a:ext cx="812800" cy="812800"/>
            </a:xfrm>
            <a:custGeom>
              <a:avLst/>
              <a:gdLst/>
              <a:ahLst/>
              <a:cxnLst/>
              <a:rect l="l" t="t" r="r" b="b"/>
              <a:pathLst>
                <a:path w="812800" h="812800">
                  <a:moveTo>
                    <a:pt x="91638" y="0"/>
                  </a:moveTo>
                  <a:lnTo>
                    <a:pt x="721162" y="0"/>
                  </a:lnTo>
                  <a:cubicBezTo>
                    <a:pt x="745466" y="0"/>
                    <a:pt x="768775" y="9655"/>
                    <a:pt x="785960" y="26840"/>
                  </a:cubicBezTo>
                  <a:cubicBezTo>
                    <a:pt x="803145" y="44025"/>
                    <a:pt x="812800" y="67334"/>
                    <a:pt x="812800" y="91638"/>
                  </a:cubicBezTo>
                  <a:lnTo>
                    <a:pt x="812800" y="721162"/>
                  </a:lnTo>
                  <a:cubicBezTo>
                    <a:pt x="812800" y="745466"/>
                    <a:pt x="803145" y="768775"/>
                    <a:pt x="785960" y="785960"/>
                  </a:cubicBezTo>
                  <a:cubicBezTo>
                    <a:pt x="768775" y="803145"/>
                    <a:pt x="745466" y="812800"/>
                    <a:pt x="721162" y="812800"/>
                  </a:cubicBezTo>
                  <a:lnTo>
                    <a:pt x="91638" y="812800"/>
                  </a:lnTo>
                  <a:cubicBezTo>
                    <a:pt x="67334" y="812800"/>
                    <a:pt x="44025" y="803145"/>
                    <a:pt x="26840" y="785960"/>
                  </a:cubicBezTo>
                  <a:cubicBezTo>
                    <a:pt x="9655" y="768775"/>
                    <a:pt x="0" y="745466"/>
                    <a:pt x="0" y="721162"/>
                  </a:cubicBezTo>
                  <a:lnTo>
                    <a:pt x="0" y="91638"/>
                  </a:lnTo>
                  <a:cubicBezTo>
                    <a:pt x="0" y="67334"/>
                    <a:pt x="9655" y="44025"/>
                    <a:pt x="26840" y="26840"/>
                  </a:cubicBezTo>
                  <a:cubicBezTo>
                    <a:pt x="44025" y="9655"/>
                    <a:pt x="67334" y="0"/>
                    <a:pt x="91638" y="0"/>
                  </a:cubicBezTo>
                  <a:close/>
                </a:path>
              </a:pathLst>
            </a:custGeom>
            <a:solidFill>
              <a:srgbClr val="FFE194"/>
            </a:solidFill>
          </p:spPr>
        </p:sp>
        <p:sp>
          <p:nvSpPr>
            <p:cNvPr id="6" name="TextBox 6"/>
            <p:cNvSpPr txBox="1"/>
            <p:nvPr/>
          </p:nvSpPr>
          <p:spPr>
            <a:xfrm>
              <a:off x="0" y="-209550"/>
              <a:ext cx="812800" cy="1022350"/>
            </a:xfrm>
            <a:prstGeom prst="rect">
              <a:avLst/>
            </a:prstGeom>
          </p:spPr>
          <p:txBody>
            <a:bodyPr lIns="50800" tIns="50800" rIns="50800" bIns="50800" rtlCol="0" anchor="ctr"/>
            <a:lstStyle/>
            <a:p>
              <a:pPr algn="ctr">
                <a:lnSpc>
                  <a:spcPts val="9799"/>
                </a:lnSpc>
              </a:pPr>
              <a:r>
                <a:rPr lang="en-US" sz="6999">
                  <a:solidFill>
                    <a:srgbClr val="FFFFFF"/>
                  </a:solidFill>
                  <a:latin typeface="Bryndan Write"/>
                  <a:ea typeface="Bryndan Write"/>
                  <a:cs typeface="Bryndan Write"/>
                  <a:sym typeface="Bryndan Write"/>
                </a:rPr>
                <a:t>01</a:t>
              </a:r>
            </a:p>
          </p:txBody>
        </p:sp>
      </p:grpSp>
      <p:sp>
        <p:nvSpPr>
          <p:cNvPr id="7" name="TextBox 7"/>
          <p:cNvSpPr txBox="1"/>
          <p:nvPr/>
        </p:nvSpPr>
        <p:spPr>
          <a:xfrm>
            <a:off x="3749206" y="3745178"/>
            <a:ext cx="4895405" cy="626873"/>
          </a:xfrm>
          <a:prstGeom prst="rect">
            <a:avLst/>
          </a:prstGeom>
        </p:spPr>
        <p:txBody>
          <a:bodyPr lIns="0" tIns="0" rIns="0" bIns="0" rtlCol="0" anchor="t">
            <a:spAutoFit/>
          </a:bodyPr>
          <a:lstStyle/>
          <a:p>
            <a:pPr algn="l">
              <a:lnSpc>
                <a:spcPts val="5083"/>
              </a:lnSpc>
            </a:pPr>
            <a:r>
              <a:rPr lang="en-US" sz="3099" b="1">
                <a:solidFill>
                  <a:srgbClr val="FFFFFF"/>
                </a:solidFill>
                <a:latin typeface="Poppins Bold"/>
                <a:ea typeface="Poppins Bold"/>
                <a:cs typeface="Poppins Bold"/>
                <a:sym typeface="Poppins Bold"/>
              </a:rPr>
              <a:t>Goals:</a:t>
            </a:r>
          </a:p>
        </p:txBody>
      </p:sp>
      <p:grpSp>
        <p:nvGrpSpPr>
          <p:cNvPr id="8" name="Group 8"/>
          <p:cNvGrpSpPr/>
          <p:nvPr/>
        </p:nvGrpSpPr>
        <p:grpSpPr>
          <a:xfrm>
            <a:off x="9533363" y="4672023"/>
            <a:ext cx="1689684" cy="1689684"/>
            <a:chOff x="0" y="0"/>
            <a:chExt cx="812800" cy="812800"/>
          </a:xfrm>
        </p:grpSpPr>
        <p:sp>
          <p:nvSpPr>
            <p:cNvPr id="9" name="Freeform 9"/>
            <p:cNvSpPr/>
            <p:nvPr/>
          </p:nvSpPr>
          <p:spPr>
            <a:xfrm>
              <a:off x="0" y="0"/>
              <a:ext cx="812800" cy="812800"/>
            </a:xfrm>
            <a:custGeom>
              <a:avLst/>
              <a:gdLst/>
              <a:ahLst/>
              <a:cxnLst/>
              <a:rect l="l" t="t" r="r" b="b"/>
              <a:pathLst>
                <a:path w="812800" h="812800">
                  <a:moveTo>
                    <a:pt x="91638" y="0"/>
                  </a:moveTo>
                  <a:lnTo>
                    <a:pt x="721162" y="0"/>
                  </a:lnTo>
                  <a:cubicBezTo>
                    <a:pt x="745466" y="0"/>
                    <a:pt x="768775" y="9655"/>
                    <a:pt x="785960" y="26840"/>
                  </a:cubicBezTo>
                  <a:cubicBezTo>
                    <a:pt x="803145" y="44025"/>
                    <a:pt x="812800" y="67334"/>
                    <a:pt x="812800" y="91638"/>
                  </a:cubicBezTo>
                  <a:lnTo>
                    <a:pt x="812800" y="721162"/>
                  </a:lnTo>
                  <a:cubicBezTo>
                    <a:pt x="812800" y="745466"/>
                    <a:pt x="803145" y="768775"/>
                    <a:pt x="785960" y="785960"/>
                  </a:cubicBezTo>
                  <a:cubicBezTo>
                    <a:pt x="768775" y="803145"/>
                    <a:pt x="745466" y="812800"/>
                    <a:pt x="721162" y="812800"/>
                  </a:cubicBezTo>
                  <a:lnTo>
                    <a:pt x="91638" y="812800"/>
                  </a:lnTo>
                  <a:cubicBezTo>
                    <a:pt x="67334" y="812800"/>
                    <a:pt x="44025" y="803145"/>
                    <a:pt x="26840" y="785960"/>
                  </a:cubicBezTo>
                  <a:cubicBezTo>
                    <a:pt x="9655" y="768775"/>
                    <a:pt x="0" y="745466"/>
                    <a:pt x="0" y="721162"/>
                  </a:cubicBezTo>
                  <a:lnTo>
                    <a:pt x="0" y="91638"/>
                  </a:lnTo>
                  <a:cubicBezTo>
                    <a:pt x="0" y="67334"/>
                    <a:pt x="9655" y="44025"/>
                    <a:pt x="26840" y="26840"/>
                  </a:cubicBezTo>
                  <a:cubicBezTo>
                    <a:pt x="44025" y="9655"/>
                    <a:pt x="67334" y="0"/>
                    <a:pt x="91638" y="0"/>
                  </a:cubicBezTo>
                  <a:close/>
                </a:path>
              </a:pathLst>
            </a:custGeom>
            <a:solidFill>
              <a:srgbClr val="FFE194"/>
            </a:solidFill>
          </p:spPr>
        </p:sp>
        <p:sp>
          <p:nvSpPr>
            <p:cNvPr id="10" name="TextBox 10"/>
            <p:cNvSpPr txBox="1"/>
            <p:nvPr/>
          </p:nvSpPr>
          <p:spPr>
            <a:xfrm>
              <a:off x="0" y="-209550"/>
              <a:ext cx="812800" cy="1022350"/>
            </a:xfrm>
            <a:prstGeom prst="rect">
              <a:avLst/>
            </a:prstGeom>
          </p:spPr>
          <p:txBody>
            <a:bodyPr lIns="50800" tIns="50800" rIns="50800" bIns="50800" rtlCol="0" anchor="ctr"/>
            <a:lstStyle/>
            <a:p>
              <a:pPr algn="ctr">
                <a:lnSpc>
                  <a:spcPts val="9799"/>
                </a:lnSpc>
              </a:pPr>
              <a:r>
                <a:rPr lang="en-US" sz="6999">
                  <a:solidFill>
                    <a:srgbClr val="FFFFFF"/>
                  </a:solidFill>
                  <a:latin typeface="Bryndan Write"/>
                  <a:ea typeface="Bryndan Write"/>
                  <a:cs typeface="Bryndan Write"/>
                  <a:sym typeface="Bryndan Write"/>
                </a:rPr>
                <a:t>02</a:t>
              </a:r>
            </a:p>
          </p:txBody>
        </p:sp>
      </p:grpSp>
      <p:sp>
        <p:nvSpPr>
          <p:cNvPr id="11" name="TextBox 11"/>
          <p:cNvSpPr txBox="1"/>
          <p:nvPr/>
        </p:nvSpPr>
        <p:spPr>
          <a:xfrm>
            <a:off x="11834759" y="3764228"/>
            <a:ext cx="4815808" cy="1148461"/>
          </a:xfrm>
          <a:prstGeom prst="rect">
            <a:avLst/>
          </a:prstGeom>
        </p:spPr>
        <p:txBody>
          <a:bodyPr lIns="0" tIns="0" rIns="0" bIns="0" rtlCol="0" anchor="t">
            <a:spAutoFit/>
          </a:bodyPr>
          <a:lstStyle/>
          <a:p>
            <a:pPr algn="l">
              <a:lnSpc>
                <a:spcPts val="4591"/>
              </a:lnSpc>
            </a:pPr>
            <a:r>
              <a:rPr lang="en-US" sz="2799" b="1">
                <a:solidFill>
                  <a:srgbClr val="FFFFFF"/>
                </a:solidFill>
                <a:latin typeface="Poppins Bold"/>
                <a:ea typeface="Poppins Bold"/>
                <a:cs typeface="Poppins Bold"/>
                <a:sym typeface="Poppins Bold"/>
              </a:rPr>
              <a:t>Pain Points:</a:t>
            </a:r>
          </a:p>
          <a:p>
            <a:pPr algn="l">
              <a:lnSpc>
                <a:spcPts val="4591"/>
              </a:lnSpc>
            </a:pPr>
            <a:endParaRPr lang="en-US" sz="2799" b="1">
              <a:solidFill>
                <a:srgbClr val="FFFFFF"/>
              </a:solidFill>
              <a:latin typeface="Poppins Bold"/>
              <a:ea typeface="Poppins Bold"/>
              <a:cs typeface="Poppins Bold"/>
              <a:sym typeface="Poppins Bold"/>
            </a:endParaRPr>
          </a:p>
        </p:txBody>
      </p:sp>
      <p:sp>
        <p:nvSpPr>
          <p:cNvPr id="12" name="Freeform 12"/>
          <p:cNvSpPr/>
          <p:nvPr/>
        </p:nvSpPr>
        <p:spPr>
          <a:xfrm>
            <a:off x="15852970" y="8281360"/>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Freeform 13"/>
          <p:cNvSpPr/>
          <p:nvPr/>
        </p:nvSpPr>
        <p:spPr>
          <a:xfrm>
            <a:off x="-758414" y="-255839"/>
            <a:ext cx="3183313" cy="2216744"/>
          </a:xfrm>
          <a:custGeom>
            <a:avLst/>
            <a:gdLst/>
            <a:ahLst/>
            <a:cxnLst/>
            <a:rect l="l" t="t" r="r" b="b"/>
            <a:pathLst>
              <a:path w="3183313" h="2216744">
                <a:moveTo>
                  <a:pt x="0" y="0"/>
                </a:moveTo>
                <a:lnTo>
                  <a:pt x="3183313" y="0"/>
                </a:lnTo>
                <a:lnTo>
                  <a:pt x="3183313" y="2216743"/>
                </a:lnTo>
                <a:lnTo>
                  <a:pt x="0" y="221674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Freeform 14"/>
          <p:cNvSpPr/>
          <p:nvPr/>
        </p:nvSpPr>
        <p:spPr>
          <a:xfrm>
            <a:off x="14905216" y="-1857477"/>
            <a:ext cx="3627145" cy="3714953"/>
          </a:xfrm>
          <a:custGeom>
            <a:avLst/>
            <a:gdLst/>
            <a:ahLst/>
            <a:cxnLst/>
            <a:rect l="l" t="t" r="r" b="b"/>
            <a:pathLst>
              <a:path w="3627145" h="3714953">
                <a:moveTo>
                  <a:pt x="0" y="0"/>
                </a:moveTo>
                <a:lnTo>
                  <a:pt x="3627145" y="0"/>
                </a:lnTo>
                <a:lnTo>
                  <a:pt x="3627145" y="3714954"/>
                </a:lnTo>
                <a:lnTo>
                  <a:pt x="0" y="37149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5" name="Freeform 15"/>
          <p:cNvSpPr/>
          <p:nvPr/>
        </p:nvSpPr>
        <p:spPr>
          <a:xfrm>
            <a:off x="10966794" y="8826204"/>
            <a:ext cx="3938421" cy="2921593"/>
          </a:xfrm>
          <a:custGeom>
            <a:avLst/>
            <a:gdLst/>
            <a:ahLst/>
            <a:cxnLst/>
            <a:rect l="l" t="t" r="r" b="b"/>
            <a:pathLst>
              <a:path w="3938421" h="2921593">
                <a:moveTo>
                  <a:pt x="0" y="0"/>
                </a:moveTo>
                <a:lnTo>
                  <a:pt x="3938422" y="0"/>
                </a:lnTo>
                <a:lnTo>
                  <a:pt x="3938422" y="2921592"/>
                </a:lnTo>
                <a:lnTo>
                  <a:pt x="0" y="2921592"/>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6" name="TextBox 16"/>
          <p:cNvSpPr txBox="1"/>
          <p:nvPr/>
        </p:nvSpPr>
        <p:spPr>
          <a:xfrm>
            <a:off x="6087136" y="2838574"/>
            <a:ext cx="5747623" cy="303023"/>
          </a:xfrm>
          <a:prstGeom prst="rect">
            <a:avLst/>
          </a:prstGeom>
        </p:spPr>
        <p:txBody>
          <a:bodyPr lIns="0" tIns="0" rIns="0" bIns="0" rtlCol="0" anchor="t">
            <a:spAutoFit/>
          </a:bodyPr>
          <a:lstStyle/>
          <a:p>
            <a:pPr algn="ctr">
              <a:lnSpc>
                <a:spcPts val="2187"/>
              </a:lnSpc>
              <a:spcBef>
                <a:spcPct val="0"/>
              </a:spcBef>
            </a:pPr>
            <a:r>
              <a:rPr lang="en-US" sz="2123">
                <a:solidFill>
                  <a:srgbClr val="FFFFFF"/>
                </a:solidFill>
                <a:latin typeface="Poppins"/>
                <a:ea typeface="Poppins"/>
                <a:cs typeface="Poppins"/>
                <a:sym typeface="Poppins"/>
              </a:rPr>
              <a:t>Cloud Security Engineer / DevOps Engineer</a:t>
            </a:r>
          </a:p>
        </p:txBody>
      </p:sp>
      <p:sp>
        <p:nvSpPr>
          <p:cNvPr id="17" name="TextBox 17"/>
          <p:cNvSpPr txBox="1"/>
          <p:nvPr/>
        </p:nvSpPr>
        <p:spPr>
          <a:xfrm>
            <a:off x="3327117" y="4634364"/>
            <a:ext cx="5027652" cy="2243334"/>
          </a:xfrm>
          <a:prstGeom prst="rect">
            <a:avLst/>
          </a:prstGeom>
        </p:spPr>
        <p:txBody>
          <a:bodyPr lIns="0" tIns="0" rIns="0" bIns="0" rtlCol="0" anchor="t">
            <a:spAutoFit/>
          </a:bodyPr>
          <a:lstStyle/>
          <a:p>
            <a:pPr marL="525838" lvl="1" indent="-262919" algn="l">
              <a:lnSpc>
                <a:spcPts val="2508"/>
              </a:lnSpc>
              <a:spcBef>
                <a:spcPct val="0"/>
              </a:spcBef>
              <a:buFont typeface="Arial"/>
              <a:buChar char="•"/>
            </a:pPr>
            <a:r>
              <a:rPr lang="en-US" sz="2435">
                <a:solidFill>
                  <a:srgbClr val="FFFFFF"/>
                </a:solidFill>
                <a:latin typeface="Poppins"/>
                <a:ea typeface="Poppins"/>
                <a:cs typeface="Poppins"/>
                <a:sym typeface="Poppins"/>
              </a:rPr>
              <a:t>Ensure secure access control</a:t>
            </a:r>
          </a:p>
          <a:p>
            <a:pPr algn="l">
              <a:lnSpc>
                <a:spcPts val="2508"/>
              </a:lnSpc>
              <a:spcBef>
                <a:spcPct val="0"/>
              </a:spcBef>
            </a:pPr>
            <a:endParaRPr lang="en-US" sz="2435">
              <a:solidFill>
                <a:srgbClr val="FFFFFF"/>
              </a:solidFill>
              <a:latin typeface="Poppins"/>
              <a:ea typeface="Poppins"/>
              <a:cs typeface="Poppins"/>
              <a:sym typeface="Poppins"/>
            </a:endParaRPr>
          </a:p>
          <a:p>
            <a:pPr marL="525838" lvl="1" indent="-262919" algn="l">
              <a:lnSpc>
                <a:spcPts val="2508"/>
              </a:lnSpc>
              <a:spcBef>
                <a:spcPct val="0"/>
              </a:spcBef>
              <a:buFont typeface="Arial"/>
              <a:buChar char="•"/>
            </a:pPr>
            <a:r>
              <a:rPr lang="en-US" sz="2435">
                <a:solidFill>
                  <a:srgbClr val="FFFFFF"/>
                </a:solidFill>
                <a:latin typeface="Poppins"/>
                <a:ea typeface="Poppins"/>
                <a:cs typeface="Poppins"/>
                <a:sym typeface="Poppins"/>
              </a:rPr>
              <a:t>Reduce permission risks</a:t>
            </a:r>
          </a:p>
          <a:p>
            <a:pPr algn="l">
              <a:lnSpc>
                <a:spcPts val="2508"/>
              </a:lnSpc>
              <a:spcBef>
                <a:spcPct val="0"/>
              </a:spcBef>
            </a:pPr>
            <a:endParaRPr lang="en-US" sz="2435">
              <a:solidFill>
                <a:srgbClr val="FFFFFF"/>
              </a:solidFill>
              <a:latin typeface="Poppins"/>
              <a:ea typeface="Poppins"/>
              <a:cs typeface="Poppins"/>
              <a:sym typeface="Poppins"/>
            </a:endParaRPr>
          </a:p>
          <a:p>
            <a:pPr marL="525838" lvl="1" indent="-262919" algn="l">
              <a:lnSpc>
                <a:spcPts val="2508"/>
              </a:lnSpc>
              <a:spcBef>
                <a:spcPct val="0"/>
              </a:spcBef>
              <a:buFont typeface="Arial"/>
              <a:buChar char="•"/>
            </a:pPr>
            <a:r>
              <a:rPr lang="en-US" sz="2435">
                <a:solidFill>
                  <a:srgbClr val="FFFFFF"/>
                </a:solidFill>
                <a:latin typeface="Poppins"/>
                <a:ea typeface="Poppins"/>
                <a:cs typeface="Poppins"/>
                <a:sym typeface="Poppins"/>
              </a:rPr>
              <a:t>Audit IAM roles efficiently</a:t>
            </a:r>
          </a:p>
          <a:p>
            <a:pPr algn="l">
              <a:lnSpc>
                <a:spcPts val="2508"/>
              </a:lnSpc>
              <a:spcBef>
                <a:spcPct val="0"/>
              </a:spcBef>
            </a:pPr>
            <a:endParaRPr lang="en-US" sz="2435">
              <a:solidFill>
                <a:srgbClr val="FFFFFF"/>
              </a:solidFill>
              <a:latin typeface="Poppins"/>
              <a:ea typeface="Poppins"/>
              <a:cs typeface="Poppins"/>
              <a:sym typeface="Poppins"/>
            </a:endParaRPr>
          </a:p>
          <a:p>
            <a:pPr algn="l">
              <a:lnSpc>
                <a:spcPts val="2508"/>
              </a:lnSpc>
              <a:spcBef>
                <a:spcPct val="0"/>
              </a:spcBef>
            </a:pPr>
            <a:endParaRPr lang="en-US" sz="2435">
              <a:solidFill>
                <a:srgbClr val="FFFFFF"/>
              </a:solidFill>
              <a:latin typeface="Poppins"/>
              <a:ea typeface="Poppins"/>
              <a:cs typeface="Poppins"/>
              <a:sym typeface="Poppins"/>
            </a:endParaRPr>
          </a:p>
        </p:txBody>
      </p:sp>
      <p:sp>
        <p:nvSpPr>
          <p:cNvPr id="18" name="TextBox 18"/>
          <p:cNvSpPr txBox="1"/>
          <p:nvPr/>
        </p:nvSpPr>
        <p:spPr>
          <a:xfrm>
            <a:off x="11417938" y="4771527"/>
            <a:ext cx="6407944" cy="1978534"/>
          </a:xfrm>
          <a:prstGeom prst="rect">
            <a:avLst/>
          </a:prstGeom>
        </p:spPr>
        <p:txBody>
          <a:bodyPr lIns="0" tIns="0" rIns="0" bIns="0" rtlCol="0" anchor="t">
            <a:spAutoFit/>
          </a:bodyPr>
          <a:lstStyle/>
          <a:p>
            <a:pPr marL="544840" lvl="1" indent="-272420" algn="l">
              <a:lnSpc>
                <a:spcPts val="2599"/>
              </a:lnSpc>
              <a:spcBef>
                <a:spcPct val="0"/>
              </a:spcBef>
              <a:buFont typeface="Arial"/>
              <a:buChar char="•"/>
            </a:pPr>
            <a:r>
              <a:rPr lang="en-US" sz="2523">
                <a:solidFill>
                  <a:srgbClr val="FFFFFF"/>
                </a:solidFill>
                <a:latin typeface="Poppins"/>
                <a:ea typeface="Poppins"/>
                <a:cs typeface="Poppins"/>
                <a:sym typeface="Poppins"/>
              </a:rPr>
              <a:t>Too many roles and policies</a:t>
            </a:r>
          </a:p>
          <a:p>
            <a:pPr algn="l">
              <a:lnSpc>
                <a:spcPts val="2599"/>
              </a:lnSpc>
              <a:spcBef>
                <a:spcPct val="0"/>
              </a:spcBef>
            </a:pPr>
            <a:endParaRPr lang="en-US" sz="2523">
              <a:solidFill>
                <a:srgbClr val="FFFFFF"/>
              </a:solidFill>
              <a:latin typeface="Poppins"/>
              <a:ea typeface="Poppins"/>
              <a:cs typeface="Poppins"/>
              <a:sym typeface="Poppins"/>
            </a:endParaRPr>
          </a:p>
          <a:p>
            <a:pPr marL="544840" lvl="1" indent="-272420" algn="l">
              <a:lnSpc>
                <a:spcPts val="2599"/>
              </a:lnSpc>
              <a:spcBef>
                <a:spcPct val="0"/>
              </a:spcBef>
              <a:buFont typeface="Arial"/>
              <a:buChar char="•"/>
            </a:pPr>
            <a:r>
              <a:rPr lang="en-US" sz="2523">
                <a:solidFill>
                  <a:srgbClr val="FFFFFF"/>
                </a:solidFill>
                <a:latin typeface="Poppins"/>
                <a:ea typeface="Poppins"/>
                <a:cs typeface="Poppins"/>
                <a:sym typeface="Poppins"/>
              </a:rPr>
              <a:t>Hard to track unused permissions</a:t>
            </a:r>
          </a:p>
          <a:p>
            <a:pPr algn="l">
              <a:lnSpc>
                <a:spcPts val="2599"/>
              </a:lnSpc>
              <a:spcBef>
                <a:spcPct val="0"/>
              </a:spcBef>
            </a:pPr>
            <a:endParaRPr lang="en-US" sz="2523">
              <a:solidFill>
                <a:srgbClr val="FFFFFF"/>
              </a:solidFill>
              <a:latin typeface="Poppins"/>
              <a:ea typeface="Poppins"/>
              <a:cs typeface="Poppins"/>
              <a:sym typeface="Poppins"/>
            </a:endParaRPr>
          </a:p>
          <a:p>
            <a:pPr marL="544840" lvl="1" indent="-272420" algn="l">
              <a:lnSpc>
                <a:spcPts val="2599"/>
              </a:lnSpc>
              <a:spcBef>
                <a:spcPct val="0"/>
              </a:spcBef>
              <a:buFont typeface="Arial"/>
              <a:buChar char="•"/>
            </a:pPr>
            <a:r>
              <a:rPr lang="en-US" sz="2523">
                <a:solidFill>
                  <a:srgbClr val="FFFFFF"/>
                </a:solidFill>
                <a:latin typeface="Poppins"/>
                <a:ea typeface="Poppins"/>
                <a:cs typeface="Poppins"/>
                <a:sym typeface="Poppins"/>
              </a:rPr>
              <a:t>No clear suggestions for fixing issues</a:t>
            </a:r>
          </a:p>
          <a:p>
            <a:pPr algn="l">
              <a:lnSpc>
                <a:spcPts val="2599"/>
              </a:lnSpc>
              <a:spcBef>
                <a:spcPct val="0"/>
              </a:spcBef>
            </a:pPr>
            <a:endParaRPr lang="en-US" sz="2523">
              <a:solidFill>
                <a:srgbClr val="FFFFFF"/>
              </a:solidFill>
              <a:latin typeface="Poppins"/>
              <a:ea typeface="Poppins"/>
              <a:cs typeface="Poppins"/>
              <a:sym typeface="Poppins"/>
            </a:endParaRPr>
          </a:p>
        </p:txBody>
      </p:sp>
      <p:sp>
        <p:nvSpPr>
          <p:cNvPr id="19" name="TextBox 19"/>
          <p:cNvSpPr txBox="1"/>
          <p:nvPr/>
        </p:nvSpPr>
        <p:spPr>
          <a:xfrm>
            <a:off x="733094" y="7111075"/>
            <a:ext cx="1808678" cy="380493"/>
          </a:xfrm>
          <a:prstGeom prst="rect">
            <a:avLst/>
          </a:prstGeom>
        </p:spPr>
        <p:txBody>
          <a:bodyPr lIns="0" tIns="0" rIns="0" bIns="0" rtlCol="0" anchor="t">
            <a:spAutoFit/>
          </a:bodyPr>
          <a:lstStyle/>
          <a:p>
            <a:pPr algn="ctr">
              <a:lnSpc>
                <a:spcPts val="2702"/>
              </a:lnSpc>
              <a:spcBef>
                <a:spcPct val="0"/>
              </a:spcBef>
            </a:pPr>
            <a:r>
              <a:rPr lang="en-US" sz="2623" b="1">
                <a:solidFill>
                  <a:srgbClr val="FFFFFF"/>
                </a:solidFill>
                <a:latin typeface="Poppins Bold"/>
                <a:ea typeface="Poppins Bold"/>
                <a:cs typeface="Poppins Bold"/>
                <a:sym typeface="Poppins Bold"/>
              </a:rPr>
              <a:t>SUMMARY</a:t>
            </a:r>
            <a:r>
              <a:rPr lang="en-US" sz="2623">
                <a:solidFill>
                  <a:srgbClr val="FFFFFF"/>
                </a:solidFill>
                <a:latin typeface="Poppins"/>
                <a:ea typeface="Poppins"/>
                <a:cs typeface="Poppins"/>
                <a:sym typeface="Poppins"/>
              </a:rPr>
              <a:t>:</a:t>
            </a:r>
          </a:p>
        </p:txBody>
      </p:sp>
      <p:sp>
        <p:nvSpPr>
          <p:cNvPr id="20" name="TextBox 20"/>
          <p:cNvSpPr txBox="1"/>
          <p:nvPr/>
        </p:nvSpPr>
        <p:spPr>
          <a:xfrm>
            <a:off x="1339695" y="7725036"/>
            <a:ext cx="15608609" cy="1131698"/>
          </a:xfrm>
          <a:prstGeom prst="rect">
            <a:avLst/>
          </a:prstGeom>
        </p:spPr>
        <p:txBody>
          <a:bodyPr lIns="0" tIns="0" rIns="0" bIns="0" rtlCol="0" anchor="t">
            <a:spAutoFit/>
          </a:bodyPr>
          <a:lstStyle/>
          <a:p>
            <a:pPr algn="l">
              <a:lnSpc>
                <a:spcPts val="2187"/>
              </a:lnSpc>
              <a:spcBef>
                <a:spcPct val="0"/>
              </a:spcBef>
            </a:pPr>
            <a:r>
              <a:rPr lang="en-US" sz="2123">
                <a:solidFill>
                  <a:srgbClr val="FFFFFF"/>
                </a:solidFill>
                <a:latin typeface="Poppins"/>
                <a:ea typeface="Poppins"/>
                <a:cs typeface="Poppins"/>
                <a:sym typeface="Poppins"/>
              </a:rPr>
              <a:t>“Designing a system that helps security engineers quickly identify, analyze, and fix excessive IAM permissions using</a:t>
            </a:r>
          </a:p>
          <a:p>
            <a:pPr algn="l">
              <a:lnSpc>
                <a:spcPts val="2187"/>
              </a:lnSpc>
              <a:spcBef>
                <a:spcPct val="0"/>
              </a:spcBef>
            </a:pPr>
            <a:endParaRPr lang="en-US" sz="2123">
              <a:solidFill>
                <a:srgbClr val="FFFFFF"/>
              </a:solidFill>
              <a:latin typeface="Poppins"/>
              <a:ea typeface="Poppins"/>
              <a:cs typeface="Poppins"/>
              <a:sym typeface="Poppins"/>
            </a:endParaRPr>
          </a:p>
          <a:p>
            <a:pPr algn="l">
              <a:lnSpc>
                <a:spcPts val="2187"/>
              </a:lnSpc>
              <a:spcBef>
                <a:spcPct val="0"/>
              </a:spcBef>
            </a:pPr>
            <a:r>
              <a:rPr lang="en-US" sz="2123">
                <a:solidFill>
                  <a:srgbClr val="FFFFFF"/>
                </a:solidFill>
                <a:latin typeface="Poppins"/>
                <a:ea typeface="Poppins"/>
                <a:cs typeface="Poppins"/>
                <a:sym typeface="Poppins"/>
              </a:rPr>
              <a:t> the principles of least privilege.”</a:t>
            </a:r>
          </a:p>
          <a:p>
            <a:pPr algn="l">
              <a:lnSpc>
                <a:spcPts val="2187"/>
              </a:lnSpc>
              <a:spcBef>
                <a:spcPct val="0"/>
              </a:spcBef>
            </a:pPr>
            <a:endParaRPr lang="en-US" sz="2123">
              <a:solidFill>
                <a:srgbClr val="FFFFFF"/>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rot="3159602">
            <a:off x="8795755" y="1263115"/>
            <a:ext cx="1307816" cy="1451114"/>
          </a:xfrm>
          <a:custGeom>
            <a:avLst/>
            <a:gdLst/>
            <a:ahLst/>
            <a:cxnLst/>
            <a:rect l="l" t="t" r="r" b="b"/>
            <a:pathLst>
              <a:path w="1307816" h="1451114">
                <a:moveTo>
                  <a:pt x="0" y="0"/>
                </a:moveTo>
                <a:lnTo>
                  <a:pt x="1307816" y="0"/>
                </a:lnTo>
                <a:lnTo>
                  <a:pt x="1307816" y="1451113"/>
                </a:lnTo>
                <a:lnTo>
                  <a:pt x="0" y="145111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rot="-10249530">
            <a:off x="3285382" y="543525"/>
            <a:ext cx="1307816" cy="1451114"/>
          </a:xfrm>
          <a:custGeom>
            <a:avLst/>
            <a:gdLst/>
            <a:ahLst/>
            <a:cxnLst/>
            <a:rect l="l" t="t" r="r" b="b"/>
            <a:pathLst>
              <a:path w="1307816" h="1451114">
                <a:moveTo>
                  <a:pt x="0" y="0"/>
                </a:moveTo>
                <a:lnTo>
                  <a:pt x="1307816" y="0"/>
                </a:lnTo>
                <a:lnTo>
                  <a:pt x="1307816" y="1451114"/>
                </a:lnTo>
                <a:lnTo>
                  <a:pt x="0" y="145111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758414" y="-255839"/>
            <a:ext cx="3183313" cy="2216744"/>
          </a:xfrm>
          <a:custGeom>
            <a:avLst/>
            <a:gdLst/>
            <a:ahLst/>
            <a:cxnLst/>
            <a:rect l="l" t="t" r="r" b="b"/>
            <a:pathLst>
              <a:path w="3183313" h="2216744">
                <a:moveTo>
                  <a:pt x="0" y="0"/>
                </a:moveTo>
                <a:lnTo>
                  <a:pt x="3183313" y="0"/>
                </a:lnTo>
                <a:lnTo>
                  <a:pt x="3183313" y="2216743"/>
                </a:lnTo>
                <a:lnTo>
                  <a:pt x="0" y="221674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a:off x="16474427" y="1687124"/>
            <a:ext cx="3627145" cy="3714953"/>
          </a:xfrm>
          <a:custGeom>
            <a:avLst/>
            <a:gdLst/>
            <a:ahLst/>
            <a:cxnLst/>
            <a:rect l="l" t="t" r="r" b="b"/>
            <a:pathLst>
              <a:path w="3627145" h="3714953">
                <a:moveTo>
                  <a:pt x="0" y="0"/>
                </a:moveTo>
                <a:lnTo>
                  <a:pt x="3627146" y="0"/>
                </a:lnTo>
                <a:lnTo>
                  <a:pt x="3627146" y="3714953"/>
                </a:lnTo>
                <a:lnTo>
                  <a:pt x="0" y="371495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513522" y="8244587"/>
            <a:ext cx="4146662" cy="3076069"/>
          </a:xfrm>
          <a:custGeom>
            <a:avLst/>
            <a:gdLst/>
            <a:ahLst/>
            <a:cxnLst/>
            <a:rect l="l" t="t" r="r" b="b"/>
            <a:pathLst>
              <a:path w="4146662" h="3076069">
                <a:moveTo>
                  <a:pt x="0" y="0"/>
                </a:moveTo>
                <a:lnTo>
                  <a:pt x="4146662" y="0"/>
                </a:lnTo>
                <a:lnTo>
                  <a:pt x="4146662" y="3076069"/>
                </a:lnTo>
                <a:lnTo>
                  <a:pt x="0" y="3076069"/>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8" name="Freeform 8"/>
          <p:cNvSpPr/>
          <p:nvPr/>
        </p:nvSpPr>
        <p:spPr>
          <a:xfrm>
            <a:off x="7105643" y="2948643"/>
            <a:ext cx="10153657" cy="6434880"/>
          </a:xfrm>
          <a:custGeom>
            <a:avLst/>
            <a:gdLst/>
            <a:ahLst/>
            <a:cxnLst/>
            <a:rect l="l" t="t" r="r" b="b"/>
            <a:pathLst>
              <a:path w="10153657" h="6434880">
                <a:moveTo>
                  <a:pt x="0" y="0"/>
                </a:moveTo>
                <a:lnTo>
                  <a:pt x="10153657" y="0"/>
                </a:lnTo>
                <a:lnTo>
                  <a:pt x="10153657" y="6434880"/>
                </a:lnTo>
                <a:lnTo>
                  <a:pt x="0" y="6434880"/>
                </a:lnTo>
                <a:lnTo>
                  <a:pt x="0" y="0"/>
                </a:lnTo>
                <a:close/>
              </a:path>
            </a:pathLst>
          </a:custGeom>
          <a:blipFill>
            <a:blip r:embed="rId7"/>
            <a:stretch>
              <a:fillRect/>
            </a:stretch>
          </a:blipFill>
        </p:spPr>
      </p:sp>
      <p:sp>
        <p:nvSpPr>
          <p:cNvPr id="9" name="TextBox 9"/>
          <p:cNvSpPr txBox="1"/>
          <p:nvPr/>
        </p:nvSpPr>
        <p:spPr>
          <a:xfrm>
            <a:off x="2424899" y="713698"/>
            <a:ext cx="8663008" cy="1375920"/>
          </a:xfrm>
          <a:prstGeom prst="rect">
            <a:avLst/>
          </a:prstGeom>
        </p:spPr>
        <p:txBody>
          <a:bodyPr lIns="0" tIns="0" rIns="0" bIns="0" rtlCol="0" anchor="t">
            <a:spAutoFit/>
          </a:bodyPr>
          <a:lstStyle/>
          <a:p>
            <a:pPr algn="ctr">
              <a:lnSpc>
                <a:spcPts val="9732"/>
              </a:lnSpc>
              <a:spcBef>
                <a:spcPct val="0"/>
              </a:spcBef>
            </a:pPr>
            <a:r>
              <a:rPr lang="en-US" sz="9448">
                <a:solidFill>
                  <a:srgbClr val="FFFFFF"/>
                </a:solidFill>
                <a:latin typeface="Bryndan Write"/>
                <a:ea typeface="Bryndan Write"/>
                <a:cs typeface="Bryndan Write"/>
                <a:sym typeface="Bryndan Write"/>
              </a:rPr>
              <a:t>FIGMA</a:t>
            </a:r>
          </a:p>
        </p:txBody>
      </p:sp>
      <p:sp>
        <p:nvSpPr>
          <p:cNvPr id="10" name="TextBox 10"/>
          <p:cNvSpPr txBox="1"/>
          <p:nvPr/>
        </p:nvSpPr>
        <p:spPr>
          <a:xfrm>
            <a:off x="287380" y="2756273"/>
            <a:ext cx="3651909" cy="514443"/>
          </a:xfrm>
          <a:prstGeom prst="rect">
            <a:avLst/>
          </a:prstGeom>
        </p:spPr>
        <p:txBody>
          <a:bodyPr lIns="0" tIns="0" rIns="0" bIns="0" rtlCol="0" anchor="t">
            <a:spAutoFit/>
          </a:bodyPr>
          <a:lstStyle/>
          <a:p>
            <a:pPr marL="759446" lvl="1" indent="-379723" algn="l">
              <a:lnSpc>
                <a:spcPts val="3623"/>
              </a:lnSpc>
              <a:spcBef>
                <a:spcPct val="0"/>
              </a:spcBef>
              <a:buAutoNum type="arabicPeriod"/>
            </a:pPr>
            <a:r>
              <a:rPr lang="en-US" sz="3517" b="1">
                <a:solidFill>
                  <a:srgbClr val="FFFFFF"/>
                </a:solidFill>
                <a:latin typeface="Poppins Bold"/>
                <a:ea typeface="Poppins Bold"/>
                <a:cs typeface="Poppins Bold"/>
                <a:sym typeface="Poppins Bold"/>
              </a:rPr>
              <a:t>   Login page </a:t>
            </a:r>
          </a:p>
        </p:txBody>
      </p:sp>
      <p:sp>
        <p:nvSpPr>
          <p:cNvPr id="11" name="TextBox 11"/>
          <p:cNvSpPr txBox="1"/>
          <p:nvPr/>
        </p:nvSpPr>
        <p:spPr>
          <a:xfrm>
            <a:off x="459677" y="3554125"/>
            <a:ext cx="6091813" cy="1589375"/>
          </a:xfrm>
          <a:prstGeom prst="rect">
            <a:avLst/>
          </a:prstGeom>
        </p:spPr>
        <p:txBody>
          <a:bodyPr lIns="0" tIns="0" rIns="0" bIns="0" rtlCol="0" anchor="t">
            <a:spAutoFit/>
          </a:bodyPr>
          <a:lstStyle/>
          <a:p>
            <a:pPr algn="l">
              <a:lnSpc>
                <a:spcPts val="2450"/>
              </a:lnSpc>
              <a:spcBef>
                <a:spcPct val="0"/>
              </a:spcBef>
            </a:pPr>
            <a:r>
              <a:rPr lang="en-US" sz="2379">
                <a:solidFill>
                  <a:srgbClr val="FFFFFF"/>
                </a:solidFill>
                <a:latin typeface="Poppins"/>
                <a:ea typeface="Poppins"/>
                <a:cs typeface="Poppins"/>
                <a:sym typeface="Poppins"/>
              </a:rPr>
              <a:t>The login page ensures that only authorized users can access the IAM dashboard. Since the system manages sensitive cloud permissions, allowing open access would be insecure.</a:t>
            </a:r>
          </a:p>
        </p:txBody>
      </p:sp>
      <p:sp>
        <p:nvSpPr>
          <p:cNvPr id="12" name="TextBox 12"/>
          <p:cNvSpPr txBox="1"/>
          <p:nvPr/>
        </p:nvSpPr>
        <p:spPr>
          <a:xfrm>
            <a:off x="459677" y="5615665"/>
            <a:ext cx="1213604"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Purpose:</a:t>
            </a:r>
          </a:p>
        </p:txBody>
      </p:sp>
      <p:sp>
        <p:nvSpPr>
          <p:cNvPr id="13" name="TextBox 13"/>
          <p:cNvSpPr txBox="1"/>
          <p:nvPr/>
        </p:nvSpPr>
        <p:spPr>
          <a:xfrm>
            <a:off x="287380" y="6137719"/>
            <a:ext cx="5521047" cy="1131698"/>
          </a:xfrm>
          <a:prstGeom prst="rect">
            <a:avLst/>
          </a:prstGeom>
        </p:spPr>
        <p:txBody>
          <a:bodyPr lIns="0" tIns="0" rIns="0" bIns="0" rtlCol="0" anchor="t">
            <a:spAutoFit/>
          </a:bodyPr>
          <a:lstStyle/>
          <a:p>
            <a:pPr marL="458483" lvl="1" indent="-229241" algn="l">
              <a:lnSpc>
                <a:spcPts val="2187"/>
              </a:lnSpc>
              <a:spcBef>
                <a:spcPct val="0"/>
              </a:spcBef>
              <a:buFont typeface="Arial"/>
              <a:buChar char="•"/>
            </a:pPr>
            <a:r>
              <a:rPr lang="en-US" sz="2123">
                <a:solidFill>
                  <a:srgbClr val="FFFFFF"/>
                </a:solidFill>
                <a:latin typeface="Poppins"/>
                <a:ea typeface="Poppins"/>
                <a:cs typeface="Poppins"/>
                <a:sym typeface="Poppins"/>
              </a:rPr>
              <a:t>Restrict access to verified users</a:t>
            </a:r>
          </a:p>
          <a:p>
            <a:pPr marL="458483" lvl="1" indent="-229241" algn="l">
              <a:lnSpc>
                <a:spcPts val="2187"/>
              </a:lnSpc>
              <a:spcBef>
                <a:spcPct val="0"/>
              </a:spcBef>
              <a:buFont typeface="Arial"/>
              <a:buChar char="•"/>
            </a:pPr>
            <a:r>
              <a:rPr lang="en-US" sz="2123">
                <a:solidFill>
                  <a:srgbClr val="FFFFFF"/>
                </a:solidFill>
                <a:latin typeface="Poppins"/>
                <a:ea typeface="Poppins"/>
                <a:cs typeface="Poppins"/>
                <a:sym typeface="Poppins"/>
              </a:rPr>
              <a:t>Protect IAM data and cloud resources</a:t>
            </a:r>
          </a:p>
          <a:p>
            <a:pPr algn="l">
              <a:lnSpc>
                <a:spcPts val="2187"/>
              </a:lnSpc>
              <a:spcBef>
                <a:spcPct val="0"/>
              </a:spcBef>
            </a:pPr>
            <a:endParaRPr lang="en-US" sz="2123">
              <a:solidFill>
                <a:srgbClr val="FFFFFF"/>
              </a:solidFill>
              <a:latin typeface="Poppins"/>
              <a:ea typeface="Poppins"/>
              <a:cs typeface="Poppins"/>
              <a:sym typeface="Poppins"/>
            </a:endParaRPr>
          </a:p>
          <a:p>
            <a:pPr algn="l">
              <a:lnSpc>
                <a:spcPts val="2187"/>
              </a:lnSpc>
              <a:spcBef>
                <a:spcPct val="0"/>
              </a:spcBef>
            </a:pPr>
            <a:endParaRPr lang="en-US" sz="2123">
              <a:solidFill>
                <a:srgbClr val="FFFFFF"/>
              </a:solidFill>
              <a:latin typeface="Poppins"/>
              <a:ea typeface="Poppins"/>
              <a:cs typeface="Poppins"/>
              <a:sym typeface="Poppins"/>
            </a:endParaRPr>
          </a:p>
        </p:txBody>
      </p:sp>
      <p:sp>
        <p:nvSpPr>
          <p:cNvPr id="14" name="TextBox 14"/>
          <p:cNvSpPr txBox="1"/>
          <p:nvPr/>
        </p:nvSpPr>
        <p:spPr>
          <a:xfrm>
            <a:off x="165579" y="7288467"/>
            <a:ext cx="6385911" cy="85547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“Security starts at entry — without authentication, the dashboard would be exposed and unsafe.”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6982412" y="-1351975"/>
            <a:ext cx="4323175" cy="2703950"/>
          </a:xfrm>
          <a:custGeom>
            <a:avLst/>
            <a:gdLst/>
            <a:ahLst/>
            <a:cxnLst/>
            <a:rect l="l" t="t" r="r" b="b"/>
            <a:pathLst>
              <a:path w="4323175" h="2703950">
                <a:moveTo>
                  <a:pt x="0" y="0"/>
                </a:moveTo>
                <a:lnTo>
                  <a:pt x="4323176" y="0"/>
                </a:lnTo>
                <a:lnTo>
                  <a:pt x="4323176" y="2703950"/>
                </a:lnTo>
                <a:lnTo>
                  <a:pt x="0" y="270395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8132675" y="8931678"/>
            <a:ext cx="4323175" cy="2703950"/>
          </a:xfrm>
          <a:custGeom>
            <a:avLst/>
            <a:gdLst/>
            <a:ahLst/>
            <a:cxnLst/>
            <a:rect l="l" t="t" r="r" b="b"/>
            <a:pathLst>
              <a:path w="4323175" h="2703950">
                <a:moveTo>
                  <a:pt x="0" y="0"/>
                </a:moveTo>
                <a:lnTo>
                  <a:pt x="4323175" y="0"/>
                </a:lnTo>
                <a:lnTo>
                  <a:pt x="4323175" y="2703949"/>
                </a:lnTo>
                <a:lnTo>
                  <a:pt x="0" y="27039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5958041" y="1028700"/>
            <a:ext cx="11301259" cy="5579997"/>
          </a:xfrm>
          <a:custGeom>
            <a:avLst/>
            <a:gdLst/>
            <a:ahLst/>
            <a:cxnLst/>
            <a:rect l="l" t="t" r="r" b="b"/>
            <a:pathLst>
              <a:path w="11301259" h="5579997">
                <a:moveTo>
                  <a:pt x="0" y="0"/>
                </a:moveTo>
                <a:lnTo>
                  <a:pt x="11301259" y="0"/>
                </a:lnTo>
                <a:lnTo>
                  <a:pt x="11301259" y="5579997"/>
                </a:lnTo>
                <a:lnTo>
                  <a:pt x="0" y="5579997"/>
                </a:lnTo>
                <a:lnTo>
                  <a:pt x="0" y="0"/>
                </a:lnTo>
                <a:close/>
              </a:path>
            </a:pathLst>
          </a:custGeom>
          <a:blipFill>
            <a:blip r:embed="rId5"/>
            <a:stretch>
              <a:fillRect/>
            </a:stretch>
          </a:blipFill>
        </p:spPr>
      </p:sp>
      <p:sp>
        <p:nvSpPr>
          <p:cNvPr id="6" name="Freeform 6"/>
          <p:cNvSpPr/>
          <p:nvPr/>
        </p:nvSpPr>
        <p:spPr>
          <a:xfrm>
            <a:off x="5958041" y="6608697"/>
            <a:ext cx="11301259" cy="3277365"/>
          </a:xfrm>
          <a:custGeom>
            <a:avLst/>
            <a:gdLst/>
            <a:ahLst/>
            <a:cxnLst/>
            <a:rect l="l" t="t" r="r" b="b"/>
            <a:pathLst>
              <a:path w="11301259" h="3277365">
                <a:moveTo>
                  <a:pt x="0" y="0"/>
                </a:moveTo>
                <a:lnTo>
                  <a:pt x="11301259" y="0"/>
                </a:lnTo>
                <a:lnTo>
                  <a:pt x="11301259" y="3277365"/>
                </a:lnTo>
                <a:lnTo>
                  <a:pt x="0" y="3277365"/>
                </a:lnTo>
                <a:lnTo>
                  <a:pt x="0" y="0"/>
                </a:lnTo>
                <a:close/>
              </a:path>
            </a:pathLst>
          </a:custGeom>
          <a:blipFill>
            <a:blip r:embed="rId6"/>
            <a:stretch>
              <a:fillRect/>
            </a:stretch>
          </a:blipFill>
        </p:spPr>
      </p:sp>
      <p:sp>
        <p:nvSpPr>
          <p:cNvPr id="7" name="TextBox 7"/>
          <p:cNvSpPr txBox="1"/>
          <p:nvPr/>
        </p:nvSpPr>
        <p:spPr>
          <a:xfrm>
            <a:off x="336948" y="483778"/>
            <a:ext cx="5160858" cy="1266168"/>
          </a:xfrm>
          <a:prstGeom prst="rect">
            <a:avLst/>
          </a:prstGeom>
        </p:spPr>
        <p:txBody>
          <a:bodyPr lIns="0" tIns="0" rIns="0" bIns="0" rtlCol="0" anchor="t">
            <a:spAutoFit/>
          </a:bodyPr>
          <a:lstStyle/>
          <a:p>
            <a:pPr marL="687529" lvl="1" indent="-343765" algn="l">
              <a:lnSpc>
                <a:spcPts val="3280"/>
              </a:lnSpc>
              <a:spcBef>
                <a:spcPct val="0"/>
              </a:spcBef>
              <a:buAutoNum type="arabicPeriod"/>
            </a:pPr>
            <a:r>
              <a:rPr lang="en-US" sz="3184" b="1">
                <a:solidFill>
                  <a:srgbClr val="FFFFFF"/>
                </a:solidFill>
                <a:latin typeface="Poppins Bold"/>
                <a:ea typeface="Poppins Bold"/>
                <a:cs typeface="Poppins Bold"/>
                <a:sym typeface="Poppins Bold"/>
              </a:rPr>
              <a:t> IAM Dashboard – Permission Visibility &amp; Risk Overview</a:t>
            </a:r>
          </a:p>
        </p:txBody>
      </p:sp>
      <p:sp>
        <p:nvSpPr>
          <p:cNvPr id="8" name="TextBox 8"/>
          <p:cNvSpPr txBox="1"/>
          <p:nvPr/>
        </p:nvSpPr>
        <p:spPr>
          <a:xfrm>
            <a:off x="430710" y="2062349"/>
            <a:ext cx="4635109" cy="1960373"/>
          </a:xfrm>
          <a:prstGeom prst="rect">
            <a:avLst/>
          </a:prstGeom>
        </p:spPr>
        <p:txBody>
          <a:bodyPr lIns="0" tIns="0" rIns="0" bIns="0" rtlCol="0" anchor="t">
            <a:spAutoFit/>
          </a:bodyPr>
          <a:lstStyle/>
          <a:p>
            <a:pPr algn="l">
              <a:lnSpc>
                <a:spcPts val="2187"/>
              </a:lnSpc>
              <a:spcBef>
                <a:spcPct val="0"/>
              </a:spcBef>
            </a:pPr>
            <a:r>
              <a:rPr lang="en-US" sz="2123">
                <a:solidFill>
                  <a:srgbClr val="FFFFFF"/>
                </a:solidFill>
                <a:latin typeface="Poppins"/>
                <a:ea typeface="Poppins"/>
                <a:cs typeface="Poppins"/>
                <a:sym typeface="Poppins"/>
              </a:rPr>
              <a:t>The dashboard provides a centralized view of all users, roles, and permissions, helping security engineers quickly identify risks and take action.</a:t>
            </a:r>
          </a:p>
          <a:p>
            <a:pPr algn="ctr">
              <a:lnSpc>
                <a:spcPts val="2187"/>
              </a:lnSpc>
              <a:spcBef>
                <a:spcPct val="0"/>
              </a:spcBef>
            </a:pPr>
            <a:endParaRPr lang="en-US" sz="2123">
              <a:solidFill>
                <a:srgbClr val="FFFFFF"/>
              </a:solidFill>
              <a:latin typeface="Poppins"/>
              <a:ea typeface="Poppins"/>
              <a:cs typeface="Poppins"/>
              <a:sym typeface="Poppins"/>
            </a:endParaRPr>
          </a:p>
          <a:p>
            <a:pPr algn="ctr">
              <a:lnSpc>
                <a:spcPts val="2187"/>
              </a:lnSpc>
              <a:spcBef>
                <a:spcPct val="0"/>
              </a:spcBef>
            </a:pPr>
            <a:endParaRPr lang="en-US" sz="2123">
              <a:solidFill>
                <a:srgbClr val="FFFFFF"/>
              </a:solidFill>
              <a:latin typeface="Poppins"/>
              <a:ea typeface="Poppins"/>
              <a:cs typeface="Poppins"/>
              <a:sym typeface="Poppins"/>
            </a:endParaRPr>
          </a:p>
        </p:txBody>
      </p:sp>
      <p:sp>
        <p:nvSpPr>
          <p:cNvPr id="9" name="TextBox 9"/>
          <p:cNvSpPr txBox="1"/>
          <p:nvPr/>
        </p:nvSpPr>
        <p:spPr>
          <a:xfrm>
            <a:off x="421898" y="3880736"/>
            <a:ext cx="1213604"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Purpose:</a:t>
            </a:r>
          </a:p>
        </p:txBody>
      </p:sp>
      <p:sp>
        <p:nvSpPr>
          <p:cNvPr id="10" name="TextBox 10"/>
          <p:cNvSpPr txBox="1"/>
          <p:nvPr/>
        </p:nvSpPr>
        <p:spPr>
          <a:xfrm>
            <a:off x="336948" y="4382567"/>
            <a:ext cx="4454698" cy="1960373"/>
          </a:xfrm>
          <a:prstGeom prst="rect">
            <a:avLst/>
          </a:prstGeom>
        </p:spPr>
        <p:txBody>
          <a:bodyPr lIns="0" tIns="0" rIns="0" bIns="0" rtlCol="0" anchor="t">
            <a:spAutoFit/>
          </a:bodyPr>
          <a:lstStyle/>
          <a:p>
            <a:pPr marL="458483" lvl="1" indent="-229241" algn="l">
              <a:lnSpc>
                <a:spcPts val="2187"/>
              </a:lnSpc>
              <a:spcBef>
                <a:spcPct val="0"/>
              </a:spcBef>
              <a:buFont typeface="Arial"/>
              <a:buChar char="•"/>
            </a:pPr>
            <a:r>
              <a:rPr lang="en-US" sz="2123">
                <a:solidFill>
                  <a:srgbClr val="FFFFFF"/>
                </a:solidFill>
                <a:latin typeface="Poppins"/>
                <a:ea typeface="Poppins"/>
                <a:cs typeface="Poppins"/>
                <a:sym typeface="Poppins"/>
              </a:rPr>
              <a:t>Monitor IAM activities and permission usage</a:t>
            </a:r>
          </a:p>
          <a:p>
            <a:pPr marL="458483" lvl="1" indent="-229241" algn="l">
              <a:lnSpc>
                <a:spcPts val="2187"/>
              </a:lnSpc>
              <a:spcBef>
                <a:spcPct val="0"/>
              </a:spcBef>
              <a:buFont typeface="Arial"/>
              <a:buChar char="•"/>
            </a:pPr>
            <a:r>
              <a:rPr lang="en-US" sz="2123">
                <a:solidFill>
                  <a:srgbClr val="FFFFFF"/>
                </a:solidFill>
                <a:latin typeface="Poppins"/>
                <a:ea typeface="Poppins"/>
                <a:cs typeface="Poppins"/>
                <a:sym typeface="Poppins"/>
              </a:rPr>
              <a:t>Identify high-risk users and unused permissions</a:t>
            </a:r>
          </a:p>
          <a:p>
            <a:pPr marL="458483" lvl="1" indent="-229241" algn="l">
              <a:lnSpc>
                <a:spcPts val="2187"/>
              </a:lnSpc>
              <a:spcBef>
                <a:spcPct val="0"/>
              </a:spcBef>
              <a:buFont typeface="Arial"/>
              <a:buChar char="•"/>
            </a:pPr>
            <a:r>
              <a:rPr lang="en-US" sz="2123">
                <a:solidFill>
                  <a:srgbClr val="FFFFFF"/>
                </a:solidFill>
                <a:latin typeface="Poppins"/>
                <a:ea typeface="Poppins"/>
                <a:cs typeface="Poppins"/>
                <a:sym typeface="Poppins"/>
              </a:rPr>
              <a:t>Enable quick filtering and analysis</a:t>
            </a:r>
          </a:p>
          <a:p>
            <a:pPr algn="l">
              <a:lnSpc>
                <a:spcPts val="2187"/>
              </a:lnSpc>
              <a:spcBef>
                <a:spcPct val="0"/>
              </a:spcBef>
            </a:pPr>
            <a:endParaRPr lang="en-US" sz="2123">
              <a:solidFill>
                <a:srgbClr val="FFFFFF"/>
              </a:solidFill>
              <a:latin typeface="Poppins"/>
              <a:ea typeface="Poppins"/>
              <a:cs typeface="Poppins"/>
              <a:sym typeface="Poppins"/>
            </a:endParaRPr>
          </a:p>
        </p:txBody>
      </p:sp>
      <p:sp>
        <p:nvSpPr>
          <p:cNvPr id="11" name="TextBox 11"/>
          <p:cNvSpPr txBox="1"/>
          <p:nvPr/>
        </p:nvSpPr>
        <p:spPr>
          <a:xfrm>
            <a:off x="430710" y="6361990"/>
            <a:ext cx="1943338"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Key Elements:</a:t>
            </a:r>
          </a:p>
        </p:txBody>
      </p:sp>
      <p:sp>
        <p:nvSpPr>
          <p:cNvPr id="12" name="TextBox 12"/>
          <p:cNvSpPr txBox="1"/>
          <p:nvPr/>
        </p:nvSpPr>
        <p:spPr>
          <a:xfrm>
            <a:off x="284547" y="7026963"/>
            <a:ext cx="5673494" cy="2512823"/>
          </a:xfrm>
          <a:prstGeom prst="rect">
            <a:avLst/>
          </a:prstGeom>
        </p:spPr>
        <p:txBody>
          <a:bodyPr lIns="0" tIns="0" rIns="0" bIns="0" rtlCol="0" anchor="t">
            <a:spAutoFit/>
          </a:bodyPr>
          <a:lstStyle/>
          <a:p>
            <a:pPr marL="458483" lvl="1" indent="-229241" algn="l">
              <a:lnSpc>
                <a:spcPts val="2187"/>
              </a:lnSpc>
              <a:buFont typeface="Arial"/>
              <a:buChar char="•"/>
            </a:pPr>
            <a:r>
              <a:rPr lang="en-US" sz="2123">
                <a:solidFill>
                  <a:srgbClr val="FFFFFF"/>
                </a:solidFill>
                <a:latin typeface="Poppins"/>
                <a:ea typeface="Poppins"/>
                <a:cs typeface="Poppins"/>
                <a:sym typeface="Poppins"/>
              </a:rPr>
              <a:t>Summary cards (Total Users, High-Risk Users, Unused Permissions)</a:t>
            </a:r>
          </a:p>
          <a:p>
            <a:pPr marL="458483" lvl="1" indent="-229241" algn="l">
              <a:lnSpc>
                <a:spcPts val="2187"/>
              </a:lnSpc>
              <a:buFont typeface="Arial"/>
              <a:buChar char="•"/>
            </a:pPr>
            <a:r>
              <a:rPr lang="en-US" sz="2123">
                <a:solidFill>
                  <a:srgbClr val="FFFFFF"/>
                </a:solidFill>
                <a:latin typeface="Poppins"/>
                <a:ea typeface="Poppins"/>
                <a:cs typeface="Poppins"/>
                <a:sym typeface="Poppins"/>
              </a:rPr>
              <a:t>Search and filters (role, risk level, activity)</a:t>
            </a:r>
          </a:p>
          <a:p>
            <a:pPr marL="458483" lvl="1" indent="-229241" algn="l">
              <a:lnSpc>
                <a:spcPts val="2187"/>
              </a:lnSpc>
              <a:buFont typeface="Arial"/>
              <a:buChar char="•"/>
            </a:pPr>
            <a:r>
              <a:rPr lang="en-US" sz="2123">
                <a:solidFill>
                  <a:srgbClr val="FFFFFF"/>
                </a:solidFill>
                <a:latin typeface="Poppins"/>
                <a:ea typeface="Poppins"/>
                <a:cs typeface="Poppins"/>
                <a:sym typeface="Poppins"/>
              </a:rPr>
              <a:t>User table with role, permissions, last used, and risk score</a:t>
            </a:r>
          </a:p>
          <a:p>
            <a:pPr marL="458483" lvl="1" indent="-229241" algn="l">
              <a:lnSpc>
                <a:spcPts val="2187"/>
              </a:lnSpc>
              <a:buFont typeface="Arial"/>
              <a:buChar char="•"/>
            </a:pPr>
            <a:r>
              <a:rPr lang="en-US" sz="2123">
                <a:solidFill>
                  <a:srgbClr val="FFFFFF"/>
                </a:solidFill>
                <a:latin typeface="Poppins"/>
                <a:ea typeface="Poppins"/>
                <a:cs typeface="Poppins"/>
                <a:sym typeface="Poppins"/>
              </a:rPr>
              <a:t>Risk indicators (High, Medium, Low) for quick decisions</a:t>
            </a:r>
          </a:p>
          <a:p>
            <a:pPr marL="458483" lvl="1" indent="-229241" algn="l">
              <a:lnSpc>
                <a:spcPts val="2187"/>
              </a:lnSpc>
              <a:buFont typeface="Arial"/>
              <a:buChar char="•"/>
            </a:pPr>
            <a:endParaRPr lang="en-US" sz="2123">
              <a:solidFill>
                <a:srgbClr val="FFFFFF"/>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grpSp>
        <p:nvGrpSpPr>
          <p:cNvPr id="3" name="Group 3"/>
          <p:cNvGrpSpPr/>
          <p:nvPr/>
        </p:nvGrpSpPr>
        <p:grpSpPr>
          <a:xfrm>
            <a:off x="661193" y="4683278"/>
            <a:ext cx="1445457" cy="1445457"/>
            <a:chOff x="0" y="0"/>
            <a:chExt cx="812800" cy="812800"/>
          </a:xfrm>
        </p:grpSpPr>
        <p:sp>
          <p:nvSpPr>
            <p:cNvPr id="4" name="Freeform 4"/>
            <p:cNvSpPr/>
            <p:nvPr/>
          </p:nvSpPr>
          <p:spPr>
            <a:xfrm>
              <a:off x="0" y="0"/>
              <a:ext cx="812800" cy="812800"/>
            </a:xfrm>
            <a:custGeom>
              <a:avLst/>
              <a:gdLst/>
              <a:ahLst/>
              <a:cxnLst/>
              <a:rect l="l" t="t" r="r" b="b"/>
              <a:pathLst>
                <a:path w="812800" h="812800">
                  <a:moveTo>
                    <a:pt x="107121" y="0"/>
                  </a:moveTo>
                  <a:lnTo>
                    <a:pt x="705679" y="0"/>
                  </a:lnTo>
                  <a:cubicBezTo>
                    <a:pt x="764840" y="0"/>
                    <a:pt x="812800" y="47960"/>
                    <a:pt x="812800" y="107121"/>
                  </a:cubicBezTo>
                  <a:lnTo>
                    <a:pt x="812800" y="705679"/>
                  </a:lnTo>
                  <a:cubicBezTo>
                    <a:pt x="812800" y="764840"/>
                    <a:pt x="764840" y="812800"/>
                    <a:pt x="705679" y="812800"/>
                  </a:cubicBezTo>
                  <a:lnTo>
                    <a:pt x="107121" y="812800"/>
                  </a:lnTo>
                  <a:cubicBezTo>
                    <a:pt x="47960" y="812800"/>
                    <a:pt x="0" y="764840"/>
                    <a:pt x="0" y="705679"/>
                  </a:cubicBezTo>
                  <a:lnTo>
                    <a:pt x="0" y="107121"/>
                  </a:lnTo>
                  <a:cubicBezTo>
                    <a:pt x="0" y="47960"/>
                    <a:pt x="47960" y="0"/>
                    <a:pt x="107121" y="0"/>
                  </a:cubicBezTo>
                  <a:close/>
                </a:path>
              </a:pathLst>
            </a:custGeom>
            <a:solidFill>
              <a:srgbClr val="FFE194"/>
            </a:solidFill>
          </p:spPr>
        </p:sp>
        <p:sp>
          <p:nvSpPr>
            <p:cNvPr id="5" name="TextBox 5"/>
            <p:cNvSpPr txBox="1"/>
            <p:nvPr/>
          </p:nvSpPr>
          <p:spPr>
            <a:xfrm>
              <a:off x="0" y="-190500"/>
              <a:ext cx="812800" cy="1003300"/>
            </a:xfrm>
            <a:prstGeom prst="rect">
              <a:avLst/>
            </a:prstGeom>
          </p:spPr>
          <p:txBody>
            <a:bodyPr lIns="50800" tIns="50800" rIns="50800" bIns="50800" rtlCol="0" anchor="ctr"/>
            <a:lstStyle/>
            <a:p>
              <a:pPr algn="ctr">
                <a:lnSpc>
                  <a:spcPts val="8400"/>
                </a:lnSpc>
              </a:pPr>
              <a:r>
                <a:rPr lang="en-US" sz="6000">
                  <a:solidFill>
                    <a:srgbClr val="FFFFFF"/>
                  </a:solidFill>
                  <a:latin typeface="Bryndan Write"/>
                  <a:ea typeface="Bryndan Write"/>
                  <a:cs typeface="Bryndan Write"/>
                  <a:sym typeface="Bryndan Write"/>
                </a:rPr>
                <a:t>01</a:t>
              </a:r>
            </a:p>
          </p:txBody>
        </p:sp>
      </p:grpSp>
      <p:grpSp>
        <p:nvGrpSpPr>
          <p:cNvPr id="6" name="Group 6"/>
          <p:cNvGrpSpPr/>
          <p:nvPr/>
        </p:nvGrpSpPr>
        <p:grpSpPr>
          <a:xfrm>
            <a:off x="701899" y="7281511"/>
            <a:ext cx="1445457" cy="1445457"/>
            <a:chOff x="0" y="0"/>
            <a:chExt cx="812800" cy="812800"/>
          </a:xfrm>
        </p:grpSpPr>
        <p:sp>
          <p:nvSpPr>
            <p:cNvPr id="7" name="Freeform 7"/>
            <p:cNvSpPr/>
            <p:nvPr/>
          </p:nvSpPr>
          <p:spPr>
            <a:xfrm>
              <a:off x="0" y="0"/>
              <a:ext cx="812800" cy="812800"/>
            </a:xfrm>
            <a:custGeom>
              <a:avLst/>
              <a:gdLst/>
              <a:ahLst/>
              <a:cxnLst/>
              <a:rect l="l" t="t" r="r" b="b"/>
              <a:pathLst>
                <a:path w="812800" h="812800">
                  <a:moveTo>
                    <a:pt x="107121" y="0"/>
                  </a:moveTo>
                  <a:lnTo>
                    <a:pt x="705679" y="0"/>
                  </a:lnTo>
                  <a:cubicBezTo>
                    <a:pt x="764840" y="0"/>
                    <a:pt x="812800" y="47960"/>
                    <a:pt x="812800" y="107121"/>
                  </a:cubicBezTo>
                  <a:lnTo>
                    <a:pt x="812800" y="705679"/>
                  </a:lnTo>
                  <a:cubicBezTo>
                    <a:pt x="812800" y="764840"/>
                    <a:pt x="764840" y="812800"/>
                    <a:pt x="705679" y="812800"/>
                  </a:cubicBezTo>
                  <a:lnTo>
                    <a:pt x="107121" y="812800"/>
                  </a:lnTo>
                  <a:cubicBezTo>
                    <a:pt x="47960" y="812800"/>
                    <a:pt x="0" y="764840"/>
                    <a:pt x="0" y="705679"/>
                  </a:cubicBezTo>
                  <a:lnTo>
                    <a:pt x="0" y="107121"/>
                  </a:lnTo>
                  <a:cubicBezTo>
                    <a:pt x="0" y="47960"/>
                    <a:pt x="47960" y="0"/>
                    <a:pt x="107121" y="0"/>
                  </a:cubicBezTo>
                  <a:close/>
                </a:path>
              </a:pathLst>
            </a:custGeom>
            <a:solidFill>
              <a:srgbClr val="FFE194"/>
            </a:solidFill>
          </p:spPr>
        </p:sp>
        <p:sp>
          <p:nvSpPr>
            <p:cNvPr id="8" name="TextBox 8"/>
            <p:cNvSpPr txBox="1"/>
            <p:nvPr/>
          </p:nvSpPr>
          <p:spPr>
            <a:xfrm>
              <a:off x="0" y="-190500"/>
              <a:ext cx="812800" cy="1003300"/>
            </a:xfrm>
            <a:prstGeom prst="rect">
              <a:avLst/>
            </a:prstGeom>
          </p:spPr>
          <p:txBody>
            <a:bodyPr lIns="50800" tIns="50800" rIns="50800" bIns="50800" rtlCol="0" anchor="ctr"/>
            <a:lstStyle/>
            <a:p>
              <a:pPr algn="ctr">
                <a:lnSpc>
                  <a:spcPts val="8400"/>
                </a:lnSpc>
              </a:pPr>
              <a:r>
                <a:rPr lang="en-US" sz="6000">
                  <a:solidFill>
                    <a:srgbClr val="FFFFFF"/>
                  </a:solidFill>
                  <a:latin typeface="Bryndan Write"/>
                  <a:ea typeface="Bryndan Write"/>
                  <a:cs typeface="Bryndan Write"/>
                  <a:sym typeface="Bryndan Write"/>
                </a:rPr>
                <a:t>02</a:t>
              </a:r>
            </a:p>
          </p:txBody>
        </p:sp>
      </p:grpSp>
      <p:sp>
        <p:nvSpPr>
          <p:cNvPr id="9" name="Freeform 9"/>
          <p:cNvSpPr/>
          <p:nvPr/>
        </p:nvSpPr>
        <p:spPr>
          <a:xfrm>
            <a:off x="7103800" y="8314229"/>
            <a:ext cx="4080399" cy="2784873"/>
          </a:xfrm>
          <a:custGeom>
            <a:avLst/>
            <a:gdLst/>
            <a:ahLst/>
            <a:cxnLst/>
            <a:rect l="l" t="t" r="r" b="b"/>
            <a:pathLst>
              <a:path w="4080399" h="2784873">
                <a:moveTo>
                  <a:pt x="0" y="0"/>
                </a:moveTo>
                <a:lnTo>
                  <a:pt x="4080400" y="0"/>
                </a:lnTo>
                <a:lnTo>
                  <a:pt x="4080400" y="2784873"/>
                </a:lnTo>
                <a:lnTo>
                  <a:pt x="0" y="27848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5816244" y="7600663"/>
            <a:ext cx="749536" cy="952066"/>
          </a:xfrm>
          <a:custGeom>
            <a:avLst/>
            <a:gdLst/>
            <a:ahLst/>
            <a:cxnLst/>
            <a:rect l="l" t="t" r="r" b="b"/>
            <a:pathLst>
              <a:path w="749536" h="952066">
                <a:moveTo>
                  <a:pt x="0" y="0"/>
                </a:moveTo>
                <a:lnTo>
                  <a:pt x="749536" y="0"/>
                </a:lnTo>
                <a:lnTo>
                  <a:pt x="749536" y="952066"/>
                </a:lnTo>
                <a:lnTo>
                  <a:pt x="0" y="952066"/>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1" name="Freeform 11"/>
          <p:cNvSpPr/>
          <p:nvPr/>
        </p:nvSpPr>
        <p:spPr>
          <a:xfrm>
            <a:off x="16321892" y="8426142"/>
            <a:ext cx="473665" cy="601653"/>
          </a:xfrm>
          <a:custGeom>
            <a:avLst/>
            <a:gdLst/>
            <a:ahLst/>
            <a:cxnLst/>
            <a:rect l="l" t="t" r="r" b="b"/>
            <a:pathLst>
              <a:path w="473665" h="601653">
                <a:moveTo>
                  <a:pt x="0" y="0"/>
                </a:moveTo>
                <a:lnTo>
                  <a:pt x="473665" y="0"/>
                </a:lnTo>
                <a:lnTo>
                  <a:pt x="473665" y="601653"/>
                </a:lnTo>
                <a:lnTo>
                  <a:pt x="0" y="601653"/>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TextBox 12"/>
          <p:cNvSpPr txBox="1"/>
          <p:nvPr/>
        </p:nvSpPr>
        <p:spPr>
          <a:xfrm>
            <a:off x="1028700" y="393265"/>
            <a:ext cx="8012752" cy="999289"/>
          </a:xfrm>
          <a:prstGeom prst="rect">
            <a:avLst/>
          </a:prstGeom>
        </p:spPr>
        <p:txBody>
          <a:bodyPr lIns="0" tIns="0" rIns="0" bIns="0" rtlCol="0" anchor="t">
            <a:spAutoFit/>
          </a:bodyPr>
          <a:lstStyle/>
          <a:p>
            <a:pPr marL="0" lvl="1" indent="0" algn="l">
              <a:lnSpc>
                <a:spcPts val="7013"/>
              </a:lnSpc>
              <a:spcBef>
                <a:spcPct val="0"/>
              </a:spcBef>
            </a:pPr>
            <a:r>
              <a:rPr lang="en-US" sz="6809">
                <a:solidFill>
                  <a:srgbClr val="F4ECE5"/>
                </a:solidFill>
                <a:latin typeface="Bryndan Write"/>
                <a:ea typeface="Bryndan Write"/>
                <a:cs typeface="Bryndan Write"/>
                <a:sym typeface="Bryndan Write"/>
              </a:rPr>
              <a:t>Calculating Risk:</a:t>
            </a:r>
          </a:p>
        </p:txBody>
      </p:sp>
      <p:sp>
        <p:nvSpPr>
          <p:cNvPr id="13" name="TextBox 13"/>
          <p:cNvSpPr txBox="1"/>
          <p:nvPr/>
        </p:nvSpPr>
        <p:spPr>
          <a:xfrm>
            <a:off x="2360161" y="4954342"/>
            <a:ext cx="4743639" cy="1652412"/>
          </a:xfrm>
          <a:prstGeom prst="rect">
            <a:avLst/>
          </a:prstGeom>
        </p:spPr>
        <p:txBody>
          <a:bodyPr lIns="0" tIns="0" rIns="0" bIns="0" rtlCol="0" anchor="t">
            <a:spAutoFit/>
          </a:bodyPr>
          <a:lstStyle/>
          <a:p>
            <a:pPr marL="439337" lvl="1" indent="-219669" algn="l">
              <a:lnSpc>
                <a:spcPts val="3337"/>
              </a:lnSpc>
              <a:spcBef>
                <a:spcPct val="0"/>
              </a:spcBef>
              <a:buFont typeface="Arial"/>
              <a:buChar char="•"/>
            </a:pPr>
            <a:r>
              <a:rPr lang="en-US" sz="2034">
                <a:solidFill>
                  <a:srgbClr val="FFFFFF"/>
                </a:solidFill>
                <a:latin typeface="Poppins"/>
                <a:ea typeface="Poppins"/>
                <a:cs typeface="Poppins"/>
                <a:sym typeface="Poppins"/>
              </a:rPr>
              <a:t>Ad</a:t>
            </a:r>
            <a:r>
              <a:rPr lang="en-US" sz="2034" u="none" strike="noStrike">
                <a:solidFill>
                  <a:srgbClr val="FFFFFF"/>
                </a:solidFill>
                <a:latin typeface="Poppins"/>
                <a:ea typeface="Poppins"/>
                <a:cs typeface="Poppins"/>
                <a:sym typeface="Poppins"/>
              </a:rPr>
              <a:t>min access → +50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Write access → +30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Read-only → +10</a:t>
            </a:r>
          </a:p>
          <a:p>
            <a:pPr marL="0" lvl="0" indent="0" algn="l">
              <a:lnSpc>
                <a:spcPts val="3337"/>
              </a:lnSpc>
              <a:spcBef>
                <a:spcPct val="0"/>
              </a:spcBef>
            </a:pPr>
            <a:endParaRPr lang="en-US" sz="2034" u="none" strike="noStrike">
              <a:solidFill>
                <a:srgbClr val="FFFFFF"/>
              </a:solidFill>
              <a:latin typeface="Poppins"/>
              <a:ea typeface="Poppins"/>
              <a:cs typeface="Poppins"/>
              <a:sym typeface="Poppins"/>
            </a:endParaRPr>
          </a:p>
        </p:txBody>
      </p:sp>
      <p:sp>
        <p:nvSpPr>
          <p:cNvPr id="14" name="TextBox 14"/>
          <p:cNvSpPr txBox="1"/>
          <p:nvPr/>
        </p:nvSpPr>
        <p:spPr>
          <a:xfrm>
            <a:off x="2572967" y="7495888"/>
            <a:ext cx="5801982" cy="1534102"/>
          </a:xfrm>
          <a:prstGeom prst="rect">
            <a:avLst/>
          </a:prstGeom>
        </p:spPr>
        <p:txBody>
          <a:bodyPr lIns="0" tIns="0" rIns="0" bIns="0" rtlCol="0" anchor="t">
            <a:spAutoFit/>
          </a:bodyPr>
          <a:lstStyle/>
          <a:p>
            <a:pPr marL="409419" lvl="1" indent="-204709" algn="l">
              <a:lnSpc>
                <a:spcPts val="3109"/>
              </a:lnSpc>
              <a:spcBef>
                <a:spcPct val="0"/>
              </a:spcBef>
              <a:buFont typeface="Arial"/>
              <a:buChar char="•"/>
            </a:pPr>
            <a:r>
              <a:rPr lang="en-US" sz="1896">
                <a:solidFill>
                  <a:srgbClr val="FFFFFF"/>
                </a:solidFill>
                <a:latin typeface="Poppins"/>
                <a:ea typeface="Poppins"/>
                <a:cs typeface="Poppins"/>
                <a:sym typeface="Poppins"/>
              </a:rPr>
              <a:t>N</a:t>
            </a:r>
            <a:r>
              <a:rPr lang="en-US" sz="1896" u="none" strike="noStrike">
                <a:solidFill>
                  <a:srgbClr val="FFFFFF"/>
                </a:solidFill>
                <a:latin typeface="Poppins"/>
                <a:ea typeface="Poppins"/>
                <a:cs typeface="Poppins"/>
                <a:sym typeface="Poppins"/>
              </a:rPr>
              <a:t>ot used for 90+ days → +30</a:t>
            </a:r>
          </a:p>
          <a:p>
            <a:pPr marL="409419" lvl="1" indent="-204709" algn="l">
              <a:lnSpc>
                <a:spcPts val="3109"/>
              </a:lnSpc>
              <a:spcBef>
                <a:spcPct val="0"/>
              </a:spcBef>
              <a:buFont typeface="Arial"/>
              <a:buChar char="•"/>
            </a:pPr>
            <a:r>
              <a:rPr lang="en-US" sz="1896" u="none" strike="noStrike">
                <a:solidFill>
                  <a:srgbClr val="FFFFFF"/>
                </a:solidFill>
                <a:latin typeface="Poppins"/>
                <a:ea typeface="Poppins"/>
                <a:cs typeface="Poppins"/>
                <a:sym typeface="Poppins"/>
              </a:rPr>
              <a:t>Not used for 30–90 days → +20</a:t>
            </a:r>
          </a:p>
          <a:p>
            <a:pPr marL="409419" lvl="1" indent="-204709" algn="l">
              <a:lnSpc>
                <a:spcPts val="3109"/>
              </a:lnSpc>
              <a:spcBef>
                <a:spcPct val="0"/>
              </a:spcBef>
              <a:buFont typeface="Arial"/>
              <a:buChar char="•"/>
            </a:pPr>
            <a:r>
              <a:rPr lang="en-US" sz="1896" u="none" strike="noStrike">
                <a:solidFill>
                  <a:srgbClr val="FFFFFF"/>
                </a:solidFill>
                <a:latin typeface="Poppins"/>
                <a:ea typeface="Poppins"/>
                <a:cs typeface="Poppins"/>
                <a:sym typeface="Poppins"/>
              </a:rPr>
              <a:t>Recently used → +5</a:t>
            </a:r>
          </a:p>
          <a:p>
            <a:pPr marL="0" lvl="0" indent="0" algn="l">
              <a:lnSpc>
                <a:spcPts val="3109"/>
              </a:lnSpc>
              <a:spcBef>
                <a:spcPct val="0"/>
              </a:spcBef>
            </a:pPr>
            <a:endParaRPr lang="en-US" sz="1896" u="none" strike="noStrike">
              <a:solidFill>
                <a:srgbClr val="FFFFFF"/>
              </a:solidFill>
              <a:latin typeface="Poppins"/>
              <a:ea typeface="Poppins"/>
              <a:cs typeface="Poppins"/>
              <a:sym typeface="Poppins"/>
            </a:endParaRPr>
          </a:p>
        </p:txBody>
      </p:sp>
      <p:sp>
        <p:nvSpPr>
          <p:cNvPr id="15" name="TextBox 15"/>
          <p:cNvSpPr txBox="1"/>
          <p:nvPr/>
        </p:nvSpPr>
        <p:spPr>
          <a:xfrm>
            <a:off x="568774" y="1581276"/>
            <a:ext cx="4466301" cy="647357"/>
          </a:xfrm>
          <a:prstGeom prst="rect">
            <a:avLst/>
          </a:prstGeom>
        </p:spPr>
        <p:txBody>
          <a:bodyPr wrap="square" lIns="0" tIns="0" rIns="0" bIns="0" rtlCol="0" anchor="t">
            <a:spAutoFit/>
          </a:bodyPr>
          <a:lstStyle/>
          <a:p>
            <a:pPr algn="ctr">
              <a:lnSpc>
                <a:spcPts val="2475"/>
              </a:lnSpc>
              <a:spcBef>
                <a:spcPct val="0"/>
              </a:spcBef>
            </a:pPr>
            <a:r>
              <a:rPr lang="en-US" sz="2403" b="1" dirty="0">
                <a:solidFill>
                  <a:srgbClr val="FFFFFF"/>
                </a:solidFill>
                <a:latin typeface="Poppins Bold"/>
                <a:ea typeface="Poppins Bold"/>
                <a:cs typeface="Poppins Bold"/>
                <a:sym typeface="Poppins Bold"/>
              </a:rPr>
              <a:t> Risk Calculation Logic:</a:t>
            </a:r>
          </a:p>
          <a:p>
            <a:pPr algn="ctr">
              <a:lnSpc>
                <a:spcPts val="2475"/>
              </a:lnSpc>
              <a:spcBef>
                <a:spcPct val="0"/>
              </a:spcBef>
            </a:pPr>
            <a:endParaRPr lang="en-US" sz="2403" b="1" dirty="0">
              <a:solidFill>
                <a:srgbClr val="FFFFFF"/>
              </a:solidFill>
              <a:latin typeface="Poppins Bold"/>
              <a:ea typeface="Poppins Bold"/>
              <a:cs typeface="Poppins Bold"/>
              <a:sym typeface="Poppins Bold"/>
            </a:endParaRPr>
          </a:p>
        </p:txBody>
      </p:sp>
      <p:sp>
        <p:nvSpPr>
          <p:cNvPr id="16" name="TextBox 16"/>
          <p:cNvSpPr txBox="1"/>
          <p:nvPr/>
        </p:nvSpPr>
        <p:spPr>
          <a:xfrm>
            <a:off x="2032930" y="2088558"/>
            <a:ext cx="13075920" cy="303023"/>
          </a:xfrm>
          <a:prstGeom prst="rect">
            <a:avLst/>
          </a:prstGeom>
        </p:spPr>
        <p:txBody>
          <a:bodyPr lIns="0" tIns="0" rIns="0" bIns="0" rtlCol="0" anchor="t">
            <a:spAutoFit/>
          </a:bodyPr>
          <a:lstStyle/>
          <a:p>
            <a:pPr algn="ctr">
              <a:lnSpc>
                <a:spcPts val="2187"/>
              </a:lnSpc>
              <a:spcBef>
                <a:spcPct val="0"/>
              </a:spcBef>
            </a:pPr>
            <a:r>
              <a:rPr lang="en-US" sz="2123" dirty="0">
                <a:solidFill>
                  <a:srgbClr val="FFFFFF"/>
                </a:solidFill>
                <a:latin typeface="Poppins"/>
                <a:ea typeface="Poppins"/>
                <a:cs typeface="Poppins"/>
                <a:sym typeface="Poppins"/>
              </a:rPr>
              <a:t>Risk score is calculated based on key IAM factors like access level, usage, and permission spread.</a:t>
            </a:r>
          </a:p>
        </p:txBody>
      </p:sp>
      <p:sp>
        <p:nvSpPr>
          <p:cNvPr id="17" name="TextBox 17"/>
          <p:cNvSpPr txBox="1"/>
          <p:nvPr/>
        </p:nvSpPr>
        <p:spPr>
          <a:xfrm>
            <a:off x="701899" y="2894355"/>
            <a:ext cx="1871067"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Risk Formula:</a:t>
            </a:r>
          </a:p>
        </p:txBody>
      </p:sp>
      <p:sp>
        <p:nvSpPr>
          <p:cNvPr id="18" name="TextBox 18"/>
          <p:cNvSpPr txBox="1"/>
          <p:nvPr/>
        </p:nvSpPr>
        <p:spPr>
          <a:xfrm>
            <a:off x="2360161" y="3216428"/>
            <a:ext cx="9161933" cy="303023"/>
          </a:xfrm>
          <a:prstGeom prst="rect">
            <a:avLst/>
          </a:prstGeom>
        </p:spPr>
        <p:txBody>
          <a:bodyPr lIns="0" tIns="0" rIns="0" bIns="0" rtlCol="0" anchor="t">
            <a:spAutoFit/>
          </a:bodyPr>
          <a:lstStyle/>
          <a:p>
            <a:pPr algn="ctr">
              <a:lnSpc>
                <a:spcPts val="2187"/>
              </a:lnSpc>
              <a:spcBef>
                <a:spcPct val="0"/>
              </a:spcBef>
            </a:pPr>
            <a:r>
              <a:rPr lang="en-US" sz="2123">
                <a:solidFill>
                  <a:srgbClr val="FFFFFF"/>
                </a:solidFill>
                <a:latin typeface="Poppins"/>
                <a:ea typeface="Poppins"/>
                <a:cs typeface="Poppins"/>
                <a:sym typeface="Poppins"/>
              </a:rPr>
              <a:t>Risk Score = Access Level + Inactivity + Permission Count</a:t>
            </a:r>
          </a:p>
        </p:txBody>
      </p:sp>
      <p:sp>
        <p:nvSpPr>
          <p:cNvPr id="19" name="TextBox 19"/>
          <p:cNvSpPr txBox="1"/>
          <p:nvPr/>
        </p:nvSpPr>
        <p:spPr>
          <a:xfrm>
            <a:off x="5880376" y="3799415"/>
            <a:ext cx="2934295" cy="494340"/>
          </a:xfrm>
          <a:prstGeom prst="rect">
            <a:avLst/>
          </a:prstGeom>
        </p:spPr>
        <p:txBody>
          <a:bodyPr lIns="0" tIns="0" rIns="0" bIns="0" rtlCol="0" anchor="t">
            <a:spAutoFit/>
          </a:bodyPr>
          <a:lstStyle/>
          <a:p>
            <a:pPr algn="ctr">
              <a:lnSpc>
                <a:spcPts val="3589"/>
              </a:lnSpc>
              <a:spcBef>
                <a:spcPct val="0"/>
              </a:spcBef>
            </a:pPr>
            <a:r>
              <a:rPr lang="en-US" sz="3484" b="1" dirty="0">
                <a:solidFill>
                  <a:srgbClr val="FFFFFF"/>
                </a:solidFill>
                <a:latin typeface="Poppins Bold"/>
                <a:ea typeface="Poppins Bold"/>
                <a:cs typeface="Poppins Bold"/>
                <a:sym typeface="Poppins Bold"/>
              </a:rPr>
              <a:t>Factors Used</a:t>
            </a:r>
          </a:p>
        </p:txBody>
      </p:sp>
      <p:sp>
        <p:nvSpPr>
          <p:cNvPr id="20" name="TextBox 20"/>
          <p:cNvSpPr txBox="1"/>
          <p:nvPr/>
        </p:nvSpPr>
        <p:spPr>
          <a:xfrm>
            <a:off x="2342229" y="4329077"/>
            <a:ext cx="2692847" cy="887591"/>
          </a:xfrm>
          <a:prstGeom prst="rect">
            <a:avLst/>
          </a:prstGeom>
        </p:spPr>
        <p:txBody>
          <a:bodyPr lIns="0" tIns="0" rIns="0" bIns="0" rtlCol="0" anchor="t">
            <a:spAutoFit/>
          </a:bodyPr>
          <a:lstStyle/>
          <a:p>
            <a:pPr algn="ctr">
              <a:lnSpc>
                <a:spcPts val="3349"/>
              </a:lnSpc>
              <a:spcBef>
                <a:spcPct val="0"/>
              </a:spcBef>
            </a:pPr>
            <a:r>
              <a:rPr lang="en-US" sz="3251" b="1">
                <a:solidFill>
                  <a:srgbClr val="FFFFFF"/>
                </a:solidFill>
                <a:latin typeface="Poppins Bold"/>
                <a:ea typeface="Poppins Bold"/>
                <a:cs typeface="Poppins Bold"/>
                <a:sym typeface="Poppins Bold"/>
              </a:rPr>
              <a:t>Access Level</a:t>
            </a:r>
          </a:p>
          <a:p>
            <a:pPr algn="ctr">
              <a:lnSpc>
                <a:spcPts val="3349"/>
              </a:lnSpc>
              <a:spcBef>
                <a:spcPct val="0"/>
              </a:spcBef>
            </a:pPr>
            <a:endParaRPr lang="en-US" sz="3251" b="1">
              <a:solidFill>
                <a:srgbClr val="FFFFFF"/>
              </a:solidFill>
              <a:latin typeface="Poppins Bold"/>
              <a:ea typeface="Poppins Bold"/>
              <a:cs typeface="Poppins Bold"/>
              <a:sym typeface="Poppins Bold"/>
            </a:endParaRPr>
          </a:p>
        </p:txBody>
      </p:sp>
      <p:sp>
        <p:nvSpPr>
          <p:cNvPr id="21" name="TextBox 21"/>
          <p:cNvSpPr txBox="1"/>
          <p:nvPr/>
        </p:nvSpPr>
        <p:spPr>
          <a:xfrm>
            <a:off x="1275845" y="6525240"/>
            <a:ext cx="4825614" cy="496829"/>
          </a:xfrm>
          <a:prstGeom prst="rect">
            <a:avLst/>
          </a:prstGeom>
        </p:spPr>
        <p:txBody>
          <a:bodyPr lIns="0" tIns="0" rIns="0" bIns="0" rtlCol="0" anchor="t">
            <a:spAutoFit/>
          </a:bodyPr>
          <a:lstStyle/>
          <a:p>
            <a:pPr algn="ctr">
              <a:lnSpc>
                <a:spcPts val="3568"/>
              </a:lnSpc>
              <a:spcBef>
                <a:spcPct val="0"/>
              </a:spcBef>
            </a:pPr>
            <a:r>
              <a:rPr lang="en-US" sz="3464" b="1" dirty="0">
                <a:solidFill>
                  <a:srgbClr val="FFFFFF"/>
                </a:solidFill>
                <a:latin typeface="Poppins Bold"/>
                <a:ea typeface="Poppins Bold"/>
                <a:cs typeface="Poppins Bold"/>
                <a:sym typeface="Poppins Bold"/>
              </a:rPr>
              <a:t>Last Used (Inactivity)</a:t>
            </a:r>
          </a:p>
        </p:txBody>
      </p:sp>
      <p:grpSp>
        <p:nvGrpSpPr>
          <p:cNvPr id="22" name="Group 22"/>
          <p:cNvGrpSpPr/>
          <p:nvPr/>
        </p:nvGrpSpPr>
        <p:grpSpPr>
          <a:xfrm>
            <a:off x="8644610" y="4683278"/>
            <a:ext cx="1445457" cy="1445457"/>
            <a:chOff x="0" y="0"/>
            <a:chExt cx="812800" cy="812800"/>
          </a:xfrm>
        </p:grpSpPr>
        <p:sp>
          <p:nvSpPr>
            <p:cNvPr id="23" name="Freeform 23"/>
            <p:cNvSpPr/>
            <p:nvPr/>
          </p:nvSpPr>
          <p:spPr>
            <a:xfrm>
              <a:off x="0" y="0"/>
              <a:ext cx="812800" cy="812800"/>
            </a:xfrm>
            <a:custGeom>
              <a:avLst/>
              <a:gdLst/>
              <a:ahLst/>
              <a:cxnLst/>
              <a:rect l="l" t="t" r="r" b="b"/>
              <a:pathLst>
                <a:path w="812800" h="812800">
                  <a:moveTo>
                    <a:pt x="107121" y="0"/>
                  </a:moveTo>
                  <a:lnTo>
                    <a:pt x="705679" y="0"/>
                  </a:lnTo>
                  <a:cubicBezTo>
                    <a:pt x="764840" y="0"/>
                    <a:pt x="812800" y="47960"/>
                    <a:pt x="812800" y="107121"/>
                  </a:cubicBezTo>
                  <a:lnTo>
                    <a:pt x="812800" y="705679"/>
                  </a:lnTo>
                  <a:cubicBezTo>
                    <a:pt x="812800" y="764840"/>
                    <a:pt x="764840" y="812800"/>
                    <a:pt x="705679" y="812800"/>
                  </a:cubicBezTo>
                  <a:lnTo>
                    <a:pt x="107121" y="812800"/>
                  </a:lnTo>
                  <a:cubicBezTo>
                    <a:pt x="47960" y="812800"/>
                    <a:pt x="0" y="764840"/>
                    <a:pt x="0" y="705679"/>
                  </a:cubicBezTo>
                  <a:lnTo>
                    <a:pt x="0" y="107121"/>
                  </a:lnTo>
                  <a:cubicBezTo>
                    <a:pt x="0" y="47960"/>
                    <a:pt x="47960" y="0"/>
                    <a:pt x="107121" y="0"/>
                  </a:cubicBezTo>
                  <a:close/>
                </a:path>
              </a:pathLst>
            </a:custGeom>
            <a:solidFill>
              <a:srgbClr val="FFE194"/>
            </a:solidFill>
          </p:spPr>
        </p:sp>
        <p:sp>
          <p:nvSpPr>
            <p:cNvPr id="24" name="TextBox 24"/>
            <p:cNvSpPr txBox="1"/>
            <p:nvPr/>
          </p:nvSpPr>
          <p:spPr>
            <a:xfrm>
              <a:off x="0" y="-190500"/>
              <a:ext cx="812800" cy="1003300"/>
            </a:xfrm>
            <a:prstGeom prst="rect">
              <a:avLst/>
            </a:prstGeom>
          </p:spPr>
          <p:txBody>
            <a:bodyPr lIns="50800" tIns="50800" rIns="50800" bIns="50800" rtlCol="0" anchor="ctr"/>
            <a:lstStyle/>
            <a:p>
              <a:pPr algn="ctr">
                <a:lnSpc>
                  <a:spcPts val="8400"/>
                </a:lnSpc>
              </a:pPr>
              <a:r>
                <a:rPr lang="en-US" sz="6000">
                  <a:solidFill>
                    <a:srgbClr val="FFFFFF"/>
                  </a:solidFill>
                  <a:latin typeface="Bryndan Write"/>
                  <a:ea typeface="Bryndan Write"/>
                  <a:cs typeface="Bryndan Write"/>
                  <a:sym typeface="Bryndan Write"/>
                </a:rPr>
                <a:t>03</a:t>
              </a:r>
            </a:p>
          </p:txBody>
        </p:sp>
      </p:grpSp>
      <p:grpSp>
        <p:nvGrpSpPr>
          <p:cNvPr id="25" name="Group 25"/>
          <p:cNvGrpSpPr/>
          <p:nvPr/>
        </p:nvGrpSpPr>
        <p:grpSpPr>
          <a:xfrm>
            <a:off x="8644610" y="7395560"/>
            <a:ext cx="1445457" cy="1445457"/>
            <a:chOff x="0" y="0"/>
            <a:chExt cx="812800" cy="812800"/>
          </a:xfrm>
        </p:grpSpPr>
        <p:sp>
          <p:nvSpPr>
            <p:cNvPr id="26" name="Freeform 26"/>
            <p:cNvSpPr/>
            <p:nvPr/>
          </p:nvSpPr>
          <p:spPr>
            <a:xfrm>
              <a:off x="0" y="0"/>
              <a:ext cx="812800" cy="812800"/>
            </a:xfrm>
            <a:custGeom>
              <a:avLst/>
              <a:gdLst/>
              <a:ahLst/>
              <a:cxnLst/>
              <a:rect l="l" t="t" r="r" b="b"/>
              <a:pathLst>
                <a:path w="812800" h="812800">
                  <a:moveTo>
                    <a:pt x="107121" y="0"/>
                  </a:moveTo>
                  <a:lnTo>
                    <a:pt x="705679" y="0"/>
                  </a:lnTo>
                  <a:cubicBezTo>
                    <a:pt x="764840" y="0"/>
                    <a:pt x="812800" y="47960"/>
                    <a:pt x="812800" y="107121"/>
                  </a:cubicBezTo>
                  <a:lnTo>
                    <a:pt x="812800" y="705679"/>
                  </a:lnTo>
                  <a:cubicBezTo>
                    <a:pt x="812800" y="764840"/>
                    <a:pt x="764840" y="812800"/>
                    <a:pt x="705679" y="812800"/>
                  </a:cubicBezTo>
                  <a:lnTo>
                    <a:pt x="107121" y="812800"/>
                  </a:lnTo>
                  <a:cubicBezTo>
                    <a:pt x="47960" y="812800"/>
                    <a:pt x="0" y="764840"/>
                    <a:pt x="0" y="705679"/>
                  </a:cubicBezTo>
                  <a:lnTo>
                    <a:pt x="0" y="107121"/>
                  </a:lnTo>
                  <a:cubicBezTo>
                    <a:pt x="0" y="47960"/>
                    <a:pt x="47960" y="0"/>
                    <a:pt x="107121" y="0"/>
                  </a:cubicBezTo>
                  <a:close/>
                </a:path>
              </a:pathLst>
            </a:custGeom>
            <a:solidFill>
              <a:srgbClr val="FFE194"/>
            </a:solidFill>
          </p:spPr>
        </p:sp>
        <p:sp>
          <p:nvSpPr>
            <p:cNvPr id="27" name="TextBox 27"/>
            <p:cNvSpPr txBox="1"/>
            <p:nvPr/>
          </p:nvSpPr>
          <p:spPr>
            <a:xfrm>
              <a:off x="0" y="-190500"/>
              <a:ext cx="812800" cy="1003300"/>
            </a:xfrm>
            <a:prstGeom prst="rect">
              <a:avLst/>
            </a:prstGeom>
          </p:spPr>
          <p:txBody>
            <a:bodyPr lIns="50800" tIns="50800" rIns="50800" bIns="50800" rtlCol="0" anchor="ctr"/>
            <a:lstStyle/>
            <a:p>
              <a:pPr algn="ctr">
                <a:lnSpc>
                  <a:spcPts val="8400"/>
                </a:lnSpc>
              </a:pPr>
              <a:r>
                <a:rPr lang="en-US" sz="6000">
                  <a:solidFill>
                    <a:srgbClr val="FFFFFF"/>
                  </a:solidFill>
                  <a:latin typeface="Bryndan Write"/>
                  <a:ea typeface="Bryndan Write"/>
                  <a:cs typeface="Bryndan Write"/>
                  <a:sym typeface="Bryndan Write"/>
                </a:rPr>
                <a:t>04</a:t>
              </a:r>
            </a:p>
          </p:txBody>
        </p:sp>
      </p:grpSp>
      <p:sp>
        <p:nvSpPr>
          <p:cNvPr id="28" name="TextBox 28"/>
          <p:cNvSpPr txBox="1"/>
          <p:nvPr/>
        </p:nvSpPr>
        <p:spPr>
          <a:xfrm>
            <a:off x="9459543" y="3919760"/>
            <a:ext cx="5278517" cy="494320"/>
          </a:xfrm>
          <a:prstGeom prst="rect">
            <a:avLst/>
          </a:prstGeom>
        </p:spPr>
        <p:txBody>
          <a:bodyPr lIns="0" tIns="0" rIns="0" bIns="0" rtlCol="0" anchor="t">
            <a:spAutoFit/>
          </a:bodyPr>
          <a:lstStyle/>
          <a:p>
            <a:pPr algn="ctr">
              <a:lnSpc>
                <a:spcPts val="3588"/>
              </a:lnSpc>
              <a:spcBef>
                <a:spcPct val="0"/>
              </a:spcBef>
            </a:pPr>
            <a:r>
              <a:rPr lang="en-US" sz="3484" b="1" dirty="0">
                <a:solidFill>
                  <a:srgbClr val="FFFFFF"/>
                </a:solidFill>
                <a:latin typeface="Poppins Bold"/>
                <a:ea typeface="Poppins Bold"/>
                <a:cs typeface="Poppins Bold"/>
                <a:sym typeface="Poppins Bold"/>
              </a:rPr>
              <a:t>Number of Permissions</a:t>
            </a:r>
          </a:p>
        </p:txBody>
      </p:sp>
      <p:sp>
        <p:nvSpPr>
          <p:cNvPr id="29" name="TextBox 29"/>
          <p:cNvSpPr txBox="1"/>
          <p:nvPr/>
        </p:nvSpPr>
        <p:spPr>
          <a:xfrm>
            <a:off x="10537578" y="4954342"/>
            <a:ext cx="4743639" cy="1652412"/>
          </a:xfrm>
          <a:prstGeom prst="rect">
            <a:avLst/>
          </a:prstGeom>
        </p:spPr>
        <p:txBody>
          <a:bodyPr lIns="0" tIns="0" rIns="0" bIns="0" rtlCol="0" anchor="t">
            <a:spAutoFit/>
          </a:bodyPr>
          <a:lstStyle/>
          <a:p>
            <a:pPr marL="439337" lvl="1" indent="-219669" algn="l">
              <a:lnSpc>
                <a:spcPts val="3337"/>
              </a:lnSpc>
              <a:spcBef>
                <a:spcPct val="0"/>
              </a:spcBef>
              <a:buFont typeface="Arial"/>
              <a:buChar char="•"/>
            </a:pPr>
            <a:r>
              <a:rPr lang="en-US" sz="2034">
                <a:solidFill>
                  <a:srgbClr val="FFFFFF"/>
                </a:solidFill>
                <a:latin typeface="Poppins"/>
                <a:ea typeface="Poppins"/>
                <a:cs typeface="Poppins"/>
                <a:sym typeface="Poppins"/>
              </a:rPr>
              <a:t>Ma</a:t>
            </a:r>
            <a:r>
              <a:rPr lang="en-US" sz="2034" u="none" strike="noStrike">
                <a:solidFill>
                  <a:srgbClr val="FFFFFF"/>
                </a:solidFill>
                <a:latin typeface="Poppins"/>
                <a:ea typeface="Poppins"/>
                <a:cs typeface="Poppins"/>
                <a:sym typeface="Poppins"/>
              </a:rPr>
              <a:t>ny permissions (&gt;10) → +20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Moderate (5–10) → +10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Few (&lt;5) → +5</a:t>
            </a:r>
          </a:p>
          <a:p>
            <a:pPr marL="0" lvl="0" indent="0" algn="l">
              <a:lnSpc>
                <a:spcPts val="3337"/>
              </a:lnSpc>
              <a:spcBef>
                <a:spcPct val="0"/>
              </a:spcBef>
            </a:pPr>
            <a:endParaRPr lang="en-US" sz="2034" u="none" strike="noStrike">
              <a:solidFill>
                <a:srgbClr val="FFFFFF"/>
              </a:solidFill>
              <a:latin typeface="Poppins"/>
              <a:ea typeface="Poppins"/>
              <a:cs typeface="Poppins"/>
              <a:sym typeface="Poppins"/>
            </a:endParaRPr>
          </a:p>
        </p:txBody>
      </p:sp>
      <p:sp>
        <p:nvSpPr>
          <p:cNvPr id="30" name="TextBox 30"/>
          <p:cNvSpPr txBox="1"/>
          <p:nvPr/>
        </p:nvSpPr>
        <p:spPr>
          <a:xfrm>
            <a:off x="10581336" y="7605888"/>
            <a:ext cx="4743639" cy="1652412"/>
          </a:xfrm>
          <a:prstGeom prst="rect">
            <a:avLst/>
          </a:prstGeom>
        </p:spPr>
        <p:txBody>
          <a:bodyPr lIns="0" tIns="0" rIns="0" bIns="0" rtlCol="0" anchor="t">
            <a:spAutoFit/>
          </a:bodyPr>
          <a:lstStyle/>
          <a:p>
            <a:pPr marL="439337" lvl="1" indent="-219669" algn="l">
              <a:lnSpc>
                <a:spcPts val="3337"/>
              </a:lnSpc>
              <a:spcBef>
                <a:spcPct val="0"/>
              </a:spcBef>
              <a:buFont typeface="Arial"/>
              <a:buChar char="•"/>
            </a:pPr>
            <a:r>
              <a:rPr lang="en-US" sz="2034">
                <a:solidFill>
                  <a:srgbClr val="FFFFFF"/>
                </a:solidFill>
                <a:latin typeface="Poppins"/>
                <a:ea typeface="Poppins"/>
                <a:cs typeface="Poppins"/>
                <a:sym typeface="Poppins"/>
              </a:rPr>
              <a:t>Ad</a:t>
            </a:r>
            <a:r>
              <a:rPr lang="en-US" sz="2034" u="none" strike="noStrike">
                <a:solidFill>
                  <a:srgbClr val="FFFFFF"/>
                </a:solidFill>
                <a:latin typeface="Poppins"/>
                <a:ea typeface="Poppins"/>
                <a:cs typeface="Poppins"/>
                <a:sym typeface="Poppins"/>
              </a:rPr>
              <a:t>min user (+50)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Not used for 90 days (+30)</a:t>
            </a:r>
          </a:p>
          <a:p>
            <a:pPr marL="439337" lvl="1" indent="-219669" algn="l">
              <a:lnSpc>
                <a:spcPts val="3337"/>
              </a:lnSpc>
              <a:spcBef>
                <a:spcPct val="0"/>
              </a:spcBef>
              <a:buFont typeface="Arial"/>
              <a:buChar char="•"/>
            </a:pPr>
            <a:r>
              <a:rPr lang="en-US" sz="2034" u="none" strike="noStrike">
                <a:solidFill>
                  <a:srgbClr val="FFFFFF"/>
                </a:solidFill>
                <a:latin typeface="Poppins"/>
                <a:ea typeface="Poppins"/>
                <a:cs typeface="Poppins"/>
                <a:sym typeface="Poppins"/>
              </a:rPr>
              <a:t>Has 12 permissions (+20)</a:t>
            </a:r>
          </a:p>
          <a:p>
            <a:pPr algn="l">
              <a:lnSpc>
                <a:spcPts val="3337"/>
              </a:lnSpc>
              <a:spcBef>
                <a:spcPct val="0"/>
              </a:spcBef>
            </a:pPr>
            <a:endParaRPr lang="en-US" sz="2034" u="none" strike="noStrike">
              <a:solidFill>
                <a:srgbClr val="FFFFFF"/>
              </a:solidFill>
              <a:latin typeface="Poppins"/>
              <a:ea typeface="Poppins"/>
              <a:cs typeface="Poppins"/>
              <a:sym typeface="Poppins"/>
            </a:endParaRPr>
          </a:p>
        </p:txBody>
      </p:sp>
      <p:sp>
        <p:nvSpPr>
          <p:cNvPr id="31" name="TextBox 31"/>
          <p:cNvSpPr txBox="1"/>
          <p:nvPr/>
        </p:nvSpPr>
        <p:spPr>
          <a:xfrm>
            <a:off x="8381361" y="6800777"/>
            <a:ext cx="7434883" cy="480735"/>
          </a:xfrm>
          <a:prstGeom prst="rect">
            <a:avLst/>
          </a:prstGeom>
        </p:spPr>
        <p:txBody>
          <a:bodyPr lIns="0" tIns="0" rIns="0" bIns="0" rtlCol="0" anchor="t">
            <a:spAutoFit/>
          </a:bodyPr>
          <a:lstStyle/>
          <a:p>
            <a:pPr algn="ctr">
              <a:lnSpc>
                <a:spcPts val="3428"/>
              </a:lnSpc>
              <a:spcBef>
                <a:spcPct val="0"/>
              </a:spcBef>
            </a:pPr>
            <a:r>
              <a:rPr lang="en-US" sz="3328" b="1">
                <a:solidFill>
                  <a:srgbClr val="FFFFFF"/>
                </a:solidFill>
                <a:latin typeface="Poppins Bold"/>
                <a:ea typeface="Poppins Bold"/>
                <a:cs typeface="Poppins Bold"/>
                <a:sym typeface="Poppins Bold"/>
              </a:rPr>
              <a:t>Final Risk Levels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5909935" y="-1513293"/>
            <a:ext cx="3439130" cy="3522386"/>
          </a:xfrm>
          <a:custGeom>
            <a:avLst/>
            <a:gdLst/>
            <a:ahLst/>
            <a:cxnLst/>
            <a:rect l="l" t="t" r="r" b="b"/>
            <a:pathLst>
              <a:path w="3439130" h="3522386">
                <a:moveTo>
                  <a:pt x="0" y="0"/>
                </a:moveTo>
                <a:lnTo>
                  <a:pt x="3439130" y="0"/>
                </a:lnTo>
                <a:lnTo>
                  <a:pt x="3439130" y="3522387"/>
                </a:lnTo>
                <a:lnTo>
                  <a:pt x="0" y="352238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8132675" y="8931678"/>
            <a:ext cx="4323175" cy="2703950"/>
          </a:xfrm>
          <a:custGeom>
            <a:avLst/>
            <a:gdLst/>
            <a:ahLst/>
            <a:cxnLst/>
            <a:rect l="l" t="t" r="r" b="b"/>
            <a:pathLst>
              <a:path w="4323175" h="2703950">
                <a:moveTo>
                  <a:pt x="0" y="0"/>
                </a:moveTo>
                <a:lnTo>
                  <a:pt x="4323175" y="0"/>
                </a:lnTo>
                <a:lnTo>
                  <a:pt x="4323175" y="2703949"/>
                </a:lnTo>
                <a:lnTo>
                  <a:pt x="0" y="270394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5958041" y="431393"/>
            <a:ext cx="11301259" cy="5025022"/>
          </a:xfrm>
          <a:custGeom>
            <a:avLst/>
            <a:gdLst/>
            <a:ahLst/>
            <a:cxnLst/>
            <a:rect l="l" t="t" r="r" b="b"/>
            <a:pathLst>
              <a:path w="11301259" h="5025022">
                <a:moveTo>
                  <a:pt x="0" y="0"/>
                </a:moveTo>
                <a:lnTo>
                  <a:pt x="11301259" y="0"/>
                </a:lnTo>
                <a:lnTo>
                  <a:pt x="11301259" y="5025023"/>
                </a:lnTo>
                <a:lnTo>
                  <a:pt x="0" y="5025023"/>
                </a:lnTo>
                <a:lnTo>
                  <a:pt x="0" y="0"/>
                </a:lnTo>
                <a:close/>
              </a:path>
            </a:pathLst>
          </a:custGeom>
          <a:blipFill>
            <a:blip r:embed="rId5"/>
            <a:stretch>
              <a:fillRect t="-18065" b="-8440"/>
            </a:stretch>
          </a:blipFill>
        </p:spPr>
      </p:sp>
      <p:sp>
        <p:nvSpPr>
          <p:cNvPr id="6" name="Freeform 6"/>
          <p:cNvSpPr/>
          <p:nvPr/>
        </p:nvSpPr>
        <p:spPr>
          <a:xfrm>
            <a:off x="5958041" y="5456416"/>
            <a:ext cx="11301259" cy="3436926"/>
          </a:xfrm>
          <a:custGeom>
            <a:avLst/>
            <a:gdLst/>
            <a:ahLst/>
            <a:cxnLst/>
            <a:rect l="l" t="t" r="r" b="b"/>
            <a:pathLst>
              <a:path w="11301259" h="3436926">
                <a:moveTo>
                  <a:pt x="0" y="0"/>
                </a:moveTo>
                <a:lnTo>
                  <a:pt x="11301259" y="0"/>
                </a:lnTo>
                <a:lnTo>
                  <a:pt x="11301259" y="3436926"/>
                </a:lnTo>
                <a:lnTo>
                  <a:pt x="0" y="3436926"/>
                </a:lnTo>
                <a:lnTo>
                  <a:pt x="0" y="0"/>
                </a:lnTo>
                <a:close/>
              </a:path>
            </a:pathLst>
          </a:custGeom>
          <a:blipFill>
            <a:blip r:embed="rId6"/>
            <a:stretch>
              <a:fillRect t="-75377" b="-9582"/>
            </a:stretch>
          </a:blipFill>
        </p:spPr>
      </p:sp>
      <p:sp>
        <p:nvSpPr>
          <p:cNvPr id="7" name="TextBox 7"/>
          <p:cNvSpPr txBox="1"/>
          <p:nvPr/>
        </p:nvSpPr>
        <p:spPr>
          <a:xfrm>
            <a:off x="319150" y="266951"/>
            <a:ext cx="6297532" cy="765497"/>
          </a:xfrm>
          <a:prstGeom prst="rect">
            <a:avLst/>
          </a:prstGeom>
        </p:spPr>
        <p:txBody>
          <a:bodyPr lIns="0" tIns="0" rIns="0" bIns="0" rtlCol="0" anchor="t">
            <a:spAutoFit/>
          </a:bodyPr>
          <a:lstStyle/>
          <a:p>
            <a:pPr algn="l">
              <a:lnSpc>
                <a:spcPts val="2893"/>
              </a:lnSpc>
              <a:spcBef>
                <a:spcPct val="0"/>
              </a:spcBef>
            </a:pPr>
            <a:r>
              <a:rPr lang="en-US" sz="2809" b="1">
                <a:solidFill>
                  <a:srgbClr val="FFFFFF"/>
                </a:solidFill>
                <a:latin typeface="Poppins Bold"/>
                <a:ea typeface="Poppins Bold"/>
                <a:cs typeface="Poppins Bold"/>
                <a:sym typeface="Poppins Bold"/>
              </a:rPr>
              <a:t>User Detail Page – Deep Permission Insights &amp; Actions</a:t>
            </a:r>
          </a:p>
        </p:txBody>
      </p:sp>
      <p:sp>
        <p:nvSpPr>
          <p:cNvPr id="8" name="TextBox 8"/>
          <p:cNvSpPr txBox="1"/>
          <p:nvPr/>
        </p:nvSpPr>
        <p:spPr>
          <a:xfrm>
            <a:off x="319150" y="1259756"/>
            <a:ext cx="5298791" cy="1131698"/>
          </a:xfrm>
          <a:prstGeom prst="rect">
            <a:avLst/>
          </a:prstGeom>
        </p:spPr>
        <p:txBody>
          <a:bodyPr lIns="0" tIns="0" rIns="0" bIns="0" rtlCol="0" anchor="t">
            <a:spAutoFit/>
          </a:bodyPr>
          <a:lstStyle/>
          <a:p>
            <a:pPr algn="l">
              <a:lnSpc>
                <a:spcPts val="2187"/>
              </a:lnSpc>
              <a:spcBef>
                <a:spcPct val="0"/>
              </a:spcBef>
            </a:pPr>
            <a:r>
              <a:rPr lang="en-US" sz="2123">
                <a:solidFill>
                  <a:srgbClr val="FFFFFF"/>
                </a:solidFill>
                <a:latin typeface="Poppins"/>
                <a:ea typeface="Poppins"/>
                <a:cs typeface="Poppins"/>
                <a:sym typeface="Poppins"/>
              </a:rPr>
              <a:t>This screen gives a comprehensive view of an individual user’s access, helping security engineers understand why a user is risky and how to fix it.</a:t>
            </a:r>
          </a:p>
        </p:txBody>
      </p:sp>
      <p:sp>
        <p:nvSpPr>
          <p:cNvPr id="9" name="TextBox 9"/>
          <p:cNvSpPr txBox="1"/>
          <p:nvPr/>
        </p:nvSpPr>
        <p:spPr>
          <a:xfrm>
            <a:off x="319150" y="2801918"/>
            <a:ext cx="1213604"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Purpose:</a:t>
            </a:r>
          </a:p>
        </p:txBody>
      </p:sp>
      <p:sp>
        <p:nvSpPr>
          <p:cNvPr id="10" name="TextBox 10"/>
          <p:cNvSpPr txBox="1"/>
          <p:nvPr/>
        </p:nvSpPr>
        <p:spPr>
          <a:xfrm>
            <a:off x="0" y="3208250"/>
            <a:ext cx="5124235" cy="2519506"/>
          </a:xfrm>
          <a:prstGeom prst="rect">
            <a:avLst/>
          </a:prstGeom>
        </p:spPr>
        <p:txBody>
          <a:bodyPr lIns="0" tIns="0" rIns="0" bIns="0" rtlCol="0" anchor="t">
            <a:spAutoFit/>
          </a:bodyPr>
          <a:lstStyle/>
          <a:p>
            <a:pPr marL="514050" lvl="1" indent="-257025" algn="l">
              <a:lnSpc>
                <a:spcPts val="2452"/>
              </a:lnSpc>
              <a:spcBef>
                <a:spcPct val="0"/>
              </a:spcBef>
              <a:buFont typeface="Arial"/>
              <a:buChar char="•"/>
            </a:pPr>
            <a:r>
              <a:rPr lang="en-US" sz="2380">
                <a:solidFill>
                  <a:srgbClr val="FFFFFF"/>
                </a:solidFill>
                <a:latin typeface="Poppins"/>
                <a:ea typeface="Poppins"/>
                <a:cs typeface="Poppins"/>
                <a:sym typeface="Poppins"/>
              </a:rPr>
              <a:t>Break down user-level risk clearly</a:t>
            </a:r>
          </a:p>
          <a:p>
            <a:pPr marL="514050" lvl="1" indent="-257025" algn="l">
              <a:lnSpc>
                <a:spcPts val="2452"/>
              </a:lnSpc>
              <a:spcBef>
                <a:spcPct val="0"/>
              </a:spcBef>
              <a:buFont typeface="Arial"/>
              <a:buChar char="•"/>
            </a:pPr>
            <a:r>
              <a:rPr lang="en-US" sz="2380">
                <a:solidFill>
                  <a:srgbClr val="FFFFFF"/>
                </a:solidFill>
                <a:latin typeface="Poppins"/>
                <a:ea typeface="Poppins"/>
                <a:cs typeface="Poppins"/>
                <a:sym typeface="Poppins"/>
              </a:rPr>
              <a:t>Highlight over-permissioned access</a:t>
            </a:r>
          </a:p>
          <a:p>
            <a:pPr marL="514050" lvl="1" indent="-257025" algn="l">
              <a:lnSpc>
                <a:spcPts val="2452"/>
              </a:lnSpc>
              <a:spcBef>
                <a:spcPct val="0"/>
              </a:spcBef>
              <a:buFont typeface="Arial"/>
              <a:buChar char="•"/>
            </a:pPr>
            <a:r>
              <a:rPr lang="en-US" sz="2380">
                <a:solidFill>
                  <a:srgbClr val="FFFFFF"/>
                </a:solidFill>
                <a:latin typeface="Poppins"/>
                <a:ea typeface="Poppins"/>
                <a:cs typeface="Poppins"/>
                <a:sym typeface="Poppins"/>
              </a:rPr>
              <a:t>Enable quick and safe remediation</a:t>
            </a:r>
          </a:p>
          <a:p>
            <a:pPr algn="l">
              <a:lnSpc>
                <a:spcPts val="2452"/>
              </a:lnSpc>
              <a:spcBef>
                <a:spcPct val="0"/>
              </a:spcBef>
            </a:pPr>
            <a:endParaRPr lang="en-US" sz="2380">
              <a:solidFill>
                <a:srgbClr val="FFFFFF"/>
              </a:solidFill>
              <a:latin typeface="Poppins"/>
              <a:ea typeface="Poppins"/>
              <a:cs typeface="Poppins"/>
              <a:sym typeface="Poppins"/>
            </a:endParaRPr>
          </a:p>
          <a:p>
            <a:pPr algn="l">
              <a:lnSpc>
                <a:spcPts val="2452"/>
              </a:lnSpc>
              <a:spcBef>
                <a:spcPct val="0"/>
              </a:spcBef>
            </a:pPr>
            <a:endParaRPr lang="en-US" sz="2380">
              <a:solidFill>
                <a:srgbClr val="FFFFFF"/>
              </a:solidFill>
              <a:latin typeface="Poppins"/>
              <a:ea typeface="Poppins"/>
              <a:cs typeface="Poppins"/>
              <a:sym typeface="Poppins"/>
            </a:endParaRPr>
          </a:p>
        </p:txBody>
      </p:sp>
      <p:sp>
        <p:nvSpPr>
          <p:cNvPr id="11" name="TextBox 11"/>
          <p:cNvSpPr txBox="1"/>
          <p:nvPr/>
        </p:nvSpPr>
        <p:spPr>
          <a:xfrm>
            <a:off x="319150" y="5585769"/>
            <a:ext cx="1943338"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Key Elements:</a:t>
            </a:r>
          </a:p>
        </p:txBody>
      </p:sp>
      <p:sp>
        <p:nvSpPr>
          <p:cNvPr id="12" name="TextBox 12"/>
          <p:cNvSpPr txBox="1"/>
          <p:nvPr/>
        </p:nvSpPr>
        <p:spPr>
          <a:xfrm>
            <a:off x="0" y="6117392"/>
            <a:ext cx="5391551" cy="3893948"/>
          </a:xfrm>
          <a:prstGeom prst="rect">
            <a:avLst/>
          </a:prstGeom>
        </p:spPr>
        <p:txBody>
          <a:bodyPr lIns="0" tIns="0" rIns="0" bIns="0" rtlCol="0" anchor="t">
            <a:spAutoFit/>
          </a:bodyPr>
          <a:lstStyle/>
          <a:p>
            <a:pPr marL="458483" lvl="1" indent="-229241" algn="l">
              <a:lnSpc>
                <a:spcPts val="2187"/>
              </a:lnSpc>
              <a:buFont typeface="Arial"/>
              <a:buChar char="•"/>
            </a:pPr>
            <a:r>
              <a:rPr lang="en-US" sz="2123">
                <a:solidFill>
                  <a:srgbClr val="FFFFFF"/>
                </a:solidFill>
                <a:latin typeface="Poppins"/>
                <a:ea typeface="Poppins"/>
                <a:cs typeface="Poppins"/>
                <a:sym typeface="Poppins"/>
              </a:rPr>
              <a:t>User Summary: Role, last activity, overall risk score</a:t>
            </a:r>
          </a:p>
          <a:p>
            <a:pPr marL="458483" lvl="1" indent="-229241" algn="l">
              <a:lnSpc>
                <a:spcPts val="2187"/>
              </a:lnSpc>
              <a:buFont typeface="Arial"/>
              <a:buChar char="•"/>
            </a:pPr>
            <a:r>
              <a:rPr lang="en-US" sz="2123">
                <a:solidFill>
                  <a:srgbClr val="FFFFFF"/>
                </a:solidFill>
                <a:latin typeface="Poppins"/>
                <a:ea typeface="Poppins"/>
                <a:cs typeface="Poppins"/>
                <a:sym typeface="Poppins"/>
              </a:rPr>
              <a:t>Risk Score Breakdown: Shows factors (e.g., admin access, high-risk permissions) contributing to total risk</a:t>
            </a:r>
          </a:p>
          <a:p>
            <a:pPr marL="458483" lvl="1" indent="-229241" algn="l">
              <a:lnSpc>
                <a:spcPts val="2187"/>
              </a:lnSpc>
              <a:buFont typeface="Arial"/>
              <a:buChar char="•"/>
            </a:pPr>
            <a:r>
              <a:rPr lang="en-US" sz="2123">
                <a:solidFill>
                  <a:srgbClr val="FFFFFF"/>
                </a:solidFill>
                <a:latin typeface="Poppins"/>
                <a:ea typeface="Poppins"/>
                <a:cs typeface="Poppins"/>
                <a:sym typeface="Poppins"/>
              </a:rPr>
              <a:t>Risky Permissions: Clearly highlighted for immediate attention</a:t>
            </a:r>
          </a:p>
          <a:p>
            <a:pPr marL="458483" lvl="1" indent="-229241" algn="l">
              <a:lnSpc>
                <a:spcPts val="2187"/>
              </a:lnSpc>
              <a:buFont typeface="Arial"/>
              <a:buChar char="•"/>
            </a:pPr>
            <a:r>
              <a:rPr lang="en-US" sz="2123">
                <a:solidFill>
                  <a:srgbClr val="FFFFFF"/>
                </a:solidFill>
                <a:latin typeface="Poppins"/>
                <a:ea typeface="Poppins"/>
                <a:cs typeface="Poppins"/>
                <a:sym typeface="Poppins"/>
              </a:rPr>
              <a:t>Unused Permissions: Identifies unnecessary access</a:t>
            </a:r>
          </a:p>
          <a:p>
            <a:pPr marL="458483" lvl="1" indent="-229241" algn="l">
              <a:lnSpc>
                <a:spcPts val="2187"/>
              </a:lnSpc>
              <a:buFont typeface="Arial"/>
              <a:buChar char="•"/>
            </a:pPr>
            <a:r>
              <a:rPr lang="en-US" sz="2123">
                <a:solidFill>
                  <a:srgbClr val="FFFFFF"/>
                </a:solidFill>
                <a:latin typeface="Poppins"/>
                <a:ea typeface="Poppins"/>
                <a:cs typeface="Poppins"/>
                <a:sym typeface="Poppins"/>
              </a:rPr>
              <a:t>Permissions Table: Includes resource, actions, last used, and risk level</a:t>
            </a:r>
          </a:p>
          <a:p>
            <a:pPr algn="l">
              <a:lnSpc>
                <a:spcPts val="2187"/>
              </a:lnSpc>
            </a:pPr>
            <a:endParaRPr lang="en-US" sz="2123">
              <a:solidFill>
                <a:srgbClr val="FFFFFF"/>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8487" y="9469"/>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758414" y="8553782"/>
            <a:ext cx="3574228" cy="2439411"/>
          </a:xfrm>
          <a:custGeom>
            <a:avLst/>
            <a:gdLst/>
            <a:ahLst/>
            <a:cxnLst/>
            <a:rect l="l" t="t" r="r" b="b"/>
            <a:pathLst>
              <a:path w="3574228" h="2439411">
                <a:moveTo>
                  <a:pt x="0" y="0"/>
                </a:moveTo>
                <a:lnTo>
                  <a:pt x="3574228" y="0"/>
                </a:lnTo>
                <a:lnTo>
                  <a:pt x="3574228" y="2439411"/>
                </a:lnTo>
                <a:lnTo>
                  <a:pt x="0" y="24394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4820270" y="459188"/>
            <a:ext cx="4199183" cy="1030709"/>
          </a:xfrm>
          <a:custGeom>
            <a:avLst/>
            <a:gdLst/>
            <a:ahLst/>
            <a:cxnLst/>
            <a:rect l="l" t="t" r="r" b="b"/>
            <a:pathLst>
              <a:path w="4199183" h="1030709">
                <a:moveTo>
                  <a:pt x="0" y="0"/>
                </a:moveTo>
                <a:lnTo>
                  <a:pt x="4199183" y="0"/>
                </a:lnTo>
                <a:lnTo>
                  <a:pt x="4199183" y="1030709"/>
                </a:lnTo>
                <a:lnTo>
                  <a:pt x="0" y="10307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5852970" y="8281360"/>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8414" y="-255839"/>
            <a:ext cx="3183313" cy="2216744"/>
          </a:xfrm>
          <a:custGeom>
            <a:avLst/>
            <a:gdLst/>
            <a:ahLst/>
            <a:cxnLst/>
            <a:rect l="l" t="t" r="r" b="b"/>
            <a:pathLst>
              <a:path w="3183313" h="2216744">
                <a:moveTo>
                  <a:pt x="0" y="0"/>
                </a:moveTo>
                <a:lnTo>
                  <a:pt x="3183313" y="0"/>
                </a:lnTo>
                <a:lnTo>
                  <a:pt x="3183313" y="2216743"/>
                </a:lnTo>
                <a:lnTo>
                  <a:pt x="0" y="221674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7950422" y="-1241235"/>
            <a:ext cx="4323175" cy="2703950"/>
          </a:xfrm>
          <a:custGeom>
            <a:avLst/>
            <a:gdLst/>
            <a:ahLst/>
            <a:cxnLst/>
            <a:rect l="l" t="t" r="r" b="b"/>
            <a:pathLst>
              <a:path w="4323175" h="2703950">
                <a:moveTo>
                  <a:pt x="0" y="0"/>
                </a:moveTo>
                <a:lnTo>
                  <a:pt x="4323176" y="0"/>
                </a:lnTo>
                <a:lnTo>
                  <a:pt x="4323176" y="2703950"/>
                </a:lnTo>
                <a:lnTo>
                  <a:pt x="0" y="270395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rot="2546313">
            <a:off x="-2101172" y="5428761"/>
            <a:ext cx="3464537" cy="2166911"/>
          </a:xfrm>
          <a:custGeom>
            <a:avLst/>
            <a:gdLst/>
            <a:ahLst/>
            <a:cxnLst/>
            <a:rect l="l" t="t" r="r" b="b"/>
            <a:pathLst>
              <a:path w="3464537" h="2166911">
                <a:moveTo>
                  <a:pt x="0" y="0"/>
                </a:moveTo>
                <a:lnTo>
                  <a:pt x="3464538" y="0"/>
                </a:lnTo>
                <a:lnTo>
                  <a:pt x="3464538" y="2166911"/>
                </a:lnTo>
                <a:lnTo>
                  <a:pt x="0" y="216691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1686016" y="8553782"/>
            <a:ext cx="3439130" cy="3522386"/>
          </a:xfrm>
          <a:custGeom>
            <a:avLst/>
            <a:gdLst/>
            <a:ahLst/>
            <a:cxnLst/>
            <a:rect l="l" t="t" r="r" b="b"/>
            <a:pathLst>
              <a:path w="3439130" h="3522386">
                <a:moveTo>
                  <a:pt x="0" y="0"/>
                </a:moveTo>
                <a:lnTo>
                  <a:pt x="3439130" y="0"/>
                </a:lnTo>
                <a:lnTo>
                  <a:pt x="3439130" y="3522386"/>
                </a:lnTo>
                <a:lnTo>
                  <a:pt x="0" y="352238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3490204" y="-2113316"/>
            <a:ext cx="3627145" cy="3714953"/>
          </a:xfrm>
          <a:custGeom>
            <a:avLst/>
            <a:gdLst/>
            <a:ahLst/>
            <a:cxnLst/>
            <a:rect l="l" t="t" r="r" b="b"/>
            <a:pathLst>
              <a:path w="3627145" h="3714953">
                <a:moveTo>
                  <a:pt x="0" y="0"/>
                </a:moveTo>
                <a:lnTo>
                  <a:pt x="3627145" y="0"/>
                </a:lnTo>
                <a:lnTo>
                  <a:pt x="3627145" y="3714953"/>
                </a:lnTo>
                <a:lnTo>
                  <a:pt x="0" y="37149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Freeform 11"/>
          <p:cNvSpPr/>
          <p:nvPr/>
        </p:nvSpPr>
        <p:spPr>
          <a:xfrm>
            <a:off x="4253903" y="8826204"/>
            <a:ext cx="3938421" cy="2921593"/>
          </a:xfrm>
          <a:custGeom>
            <a:avLst/>
            <a:gdLst/>
            <a:ahLst/>
            <a:cxnLst/>
            <a:rect l="l" t="t" r="r" b="b"/>
            <a:pathLst>
              <a:path w="3938421" h="2921593">
                <a:moveTo>
                  <a:pt x="0" y="0"/>
                </a:moveTo>
                <a:lnTo>
                  <a:pt x="3938421" y="0"/>
                </a:lnTo>
                <a:lnTo>
                  <a:pt x="3938421" y="2921592"/>
                </a:lnTo>
                <a:lnTo>
                  <a:pt x="0" y="292159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17545050" y="2668437"/>
            <a:ext cx="3842656" cy="3842656"/>
          </a:xfrm>
          <a:custGeom>
            <a:avLst/>
            <a:gdLst/>
            <a:ahLst/>
            <a:cxnLst/>
            <a:rect l="l" t="t" r="r" b="b"/>
            <a:pathLst>
              <a:path w="3842656" h="3842656">
                <a:moveTo>
                  <a:pt x="0" y="0"/>
                </a:moveTo>
                <a:lnTo>
                  <a:pt x="3842656" y="0"/>
                </a:lnTo>
                <a:lnTo>
                  <a:pt x="3842656" y="3842656"/>
                </a:lnTo>
                <a:lnTo>
                  <a:pt x="0" y="3842656"/>
                </a:lnTo>
                <a:lnTo>
                  <a:pt x="0" y="0"/>
                </a:lnTo>
                <a:close/>
              </a:path>
            </a:pathLst>
          </a:custGeom>
          <a:blipFill>
            <a:blip>
              <a:extLst>
                <a:ext uri="{96DAC541-7B7A-43D3-8B79-37D633B846F1}">
                  <asvg:svgBlip xmlns:asvg="http://schemas.microsoft.com/office/drawing/2016/SVG/main" r:embed="rId10"/>
                </a:ext>
              </a:extLst>
            </a:blip>
            <a:stretch>
              <a:fillRect/>
            </a:stretch>
          </a:blipFill>
          <a:ln cap="sq">
            <a:noFill/>
            <a:prstDash val="solid"/>
            <a:miter/>
          </a:ln>
        </p:spPr>
      </p:sp>
      <p:sp>
        <p:nvSpPr>
          <p:cNvPr id="13" name="Freeform 13"/>
          <p:cNvSpPr/>
          <p:nvPr/>
        </p:nvSpPr>
        <p:spPr>
          <a:xfrm>
            <a:off x="9986296" y="8826204"/>
            <a:ext cx="971896" cy="1117122"/>
          </a:xfrm>
          <a:custGeom>
            <a:avLst/>
            <a:gdLst/>
            <a:ahLst/>
            <a:cxnLst/>
            <a:rect l="l" t="t" r="r" b="b"/>
            <a:pathLst>
              <a:path w="971896" h="1117122">
                <a:moveTo>
                  <a:pt x="0" y="0"/>
                </a:moveTo>
                <a:lnTo>
                  <a:pt x="971895" y="0"/>
                </a:lnTo>
                <a:lnTo>
                  <a:pt x="971895" y="1117121"/>
                </a:lnTo>
                <a:lnTo>
                  <a:pt x="0" y="1117121"/>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
        <p:nvSpPr>
          <p:cNvPr id="14" name="Freeform 14"/>
          <p:cNvSpPr/>
          <p:nvPr/>
        </p:nvSpPr>
        <p:spPr>
          <a:xfrm>
            <a:off x="347295" y="2712965"/>
            <a:ext cx="971896" cy="1117122"/>
          </a:xfrm>
          <a:custGeom>
            <a:avLst/>
            <a:gdLst/>
            <a:ahLst/>
            <a:cxnLst/>
            <a:rect l="l" t="t" r="r" b="b"/>
            <a:pathLst>
              <a:path w="971896" h="1117122">
                <a:moveTo>
                  <a:pt x="0" y="0"/>
                </a:moveTo>
                <a:lnTo>
                  <a:pt x="971896" y="0"/>
                </a:lnTo>
                <a:lnTo>
                  <a:pt x="971896" y="1117122"/>
                </a:lnTo>
                <a:lnTo>
                  <a:pt x="0" y="1117122"/>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
        <p:nvSpPr>
          <p:cNvPr id="15" name="Freeform 15"/>
          <p:cNvSpPr/>
          <p:nvPr/>
        </p:nvSpPr>
        <p:spPr>
          <a:xfrm>
            <a:off x="2217795" y="1758758"/>
            <a:ext cx="5732627" cy="1327364"/>
          </a:xfrm>
          <a:custGeom>
            <a:avLst/>
            <a:gdLst/>
            <a:ahLst/>
            <a:cxnLst/>
            <a:rect l="l" t="t" r="r" b="b"/>
            <a:pathLst>
              <a:path w="5732627" h="1327364">
                <a:moveTo>
                  <a:pt x="0" y="0"/>
                </a:moveTo>
                <a:lnTo>
                  <a:pt x="5732627" y="0"/>
                </a:lnTo>
                <a:lnTo>
                  <a:pt x="5732627" y="1327364"/>
                </a:lnTo>
                <a:lnTo>
                  <a:pt x="0" y="1327364"/>
                </a:lnTo>
                <a:lnTo>
                  <a:pt x="0" y="0"/>
                </a:lnTo>
                <a:close/>
              </a:path>
            </a:pathLst>
          </a:custGeom>
          <a:blipFill>
            <a:blip r:embed="rId12"/>
            <a:stretch>
              <a:fillRect l="-824" t="-354103" r="-96314" b="-24812"/>
            </a:stretch>
          </a:blipFill>
        </p:spPr>
      </p:sp>
      <p:sp>
        <p:nvSpPr>
          <p:cNvPr id="16" name="TextBox 16"/>
          <p:cNvSpPr txBox="1"/>
          <p:nvPr/>
        </p:nvSpPr>
        <p:spPr>
          <a:xfrm>
            <a:off x="1028700" y="3567786"/>
            <a:ext cx="4603234" cy="2072533"/>
          </a:xfrm>
          <a:prstGeom prst="rect">
            <a:avLst/>
          </a:prstGeom>
        </p:spPr>
        <p:txBody>
          <a:bodyPr lIns="0" tIns="0" rIns="0" bIns="0" rtlCol="0" anchor="t">
            <a:spAutoFit/>
          </a:bodyPr>
          <a:lstStyle/>
          <a:p>
            <a:pPr algn="ctr">
              <a:lnSpc>
                <a:spcPts val="3256"/>
              </a:lnSpc>
              <a:spcBef>
                <a:spcPct val="0"/>
              </a:spcBef>
            </a:pPr>
            <a:r>
              <a:rPr lang="en-US" sz="3162" b="1">
                <a:solidFill>
                  <a:srgbClr val="FFFFFF"/>
                </a:solidFill>
                <a:latin typeface="Poppins Bold"/>
                <a:ea typeface="Poppins Bold"/>
                <a:cs typeface="Poppins Bold"/>
                <a:sym typeface="Poppins Bold"/>
              </a:rPr>
              <a:t>Action Panel:</a:t>
            </a:r>
          </a:p>
          <a:p>
            <a:pPr algn="ctr">
              <a:lnSpc>
                <a:spcPts val="3256"/>
              </a:lnSpc>
              <a:spcBef>
                <a:spcPct val="0"/>
              </a:spcBef>
            </a:pPr>
            <a:endParaRPr lang="en-US" sz="3162" b="1">
              <a:solidFill>
                <a:srgbClr val="FFFFFF"/>
              </a:solidFill>
              <a:latin typeface="Poppins Bold"/>
              <a:ea typeface="Poppins Bold"/>
              <a:cs typeface="Poppins Bold"/>
              <a:sym typeface="Poppins Bold"/>
            </a:endParaRPr>
          </a:p>
          <a:p>
            <a:pPr marL="682684" lvl="1" indent="-341342" algn="l">
              <a:lnSpc>
                <a:spcPts val="3256"/>
              </a:lnSpc>
              <a:buFont typeface="Arial"/>
              <a:buChar char="•"/>
            </a:pPr>
            <a:r>
              <a:rPr lang="en-US" sz="3162">
                <a:solidFill>
                  <a:srgbClr val="FFFFFF"/>
                </a:solidFill>
                <a:latin typeface="Poppins"/>
                <a:ea typeface="Poppins"/>
                <a:cs typeface="Poppins"/>
                <a:sym typeface="Poppins"/>
              </a:rPr>
              <a:t>Remove Permission</a:t>
            </a:r>
          </a:p>
          <a:p>
            <a:pPr marL="682684" lvl="1" indent="-341342" algn="l">
              <a:lnSpc>
                <a:spcPts val="3256"/>
              </a:lnSpc>
              <a:buFont typeface="Arial"/>
              <a:buChar char="•"/>
            </a:pPr>
            <a:r>
              <a:rPr lang="en-US" sz="3162">
                <a:solidFill>
                  <a:srgbClr val="FFFFFF"/>
                </a:solidFill>
                <a:latin typeface="Poppins"/>
                <a:ea typeface="Poppins"/>
                <a:cs typeface="Poppins"/>
                <a:sym typeface="Poppins"/>
              </a:rPr>
              <a:t>Downgrade Access</a:t>
            </a:r>
          </a:p>
          <a:p>
            <a:pPr marL="682684" lvl="1" indent="-341342" algn="l">
              <a:lnSpc>
                <a:spcPts val="3256"/>
              </a:lnSpc>
              <a:buFont typeface="Arial"/>
              <a:buChar char="•"/>
            </a:pPr>
            <a:r>
              <a:rPr lang="en-US" sz="3162">
                <a:solidFill>
                  <a:srgbClr val="FFFFFF"/>
                </a:solidFill>
                <a:latin typeface="Poppins"/>
                <a:ea typeface="Poppins"/>
                <a:cs typeface="Poppins"/>
                <a:sym typeface="Poppins"/>
              </a:rPr>
              <a:t>Mark Safe</a:t>
            </a:r>
          </a:p>
        </p:txBody>
      </p:sp>
      <p:sp>
        <p:nvSpPr>
          <p:cNvPr id="17" name="TextBox 17"/>
          <p:cNvSpPr txBox="1"/>
          <p:nvPr/>
        </p:nvSpPr>
        <p:spPr>
          <a:xfrm>
            <a:off x="1389297" y="6368074"/>
            <a:ext cx="16155753" cy="596044"/>
          </a:xfrm>
          <a:prstGeom prst="rect">
            <a:avLst/>
          </a:prstGeom>
        </p:spPr>
        <p:txBody>
          <a:bodyPr lIns="0" tIns="0" rIns="0" bIns="0" rtlCol="0" anchor="t">
            <a:spAutoFit/>
          </a:bodyPr>
          <a:lstStyle/>
          <a:p>
            <a:pPr algn="l">
              <a:lnSpc>
                <a:spcPts val="2213"/>
              </a:lnSpc>
              <a:spcBef>
                <a:spcPct val="0"/>
              </a:spcBef>
            </a:pPr>
            <a:r>
              <a:rPr lang="en-US" sz="2149" dirty="0">
                <a:solidFill>
                  <a:srgbClr val="FFFFFF"/>
                </a:solidFill>
                <a:latin typeface="Poppins"/>
                <a:ea typeface="Poppins"/>
                <a:cs typeface="Poppins"/>
                <a:sym typeface="Poppins"/>
              </a:rPr>
              <a:t>This screen not only identifies security issues but also explains and resolves them in one place, reducing investigation time and improving cloud security.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14820270" y="459188"/>
            <a:ext cx="4199183" cy="1030709"/>
          </a:xfrm>
          <a:custGeom>
            <a:avLst/>
            <a:gdLst/>
            <a:ahLst/>
            <a:cxnLst/>
            <a:rect l="l" t="t" r="r" b="b"/>
            <a:pathLst>
              <a:path w="4199183" h="1030709">
                <a:moveTo>
                  <a:pt x="0" y="0"/>
                </a:moveTo>
                <a:lnTo>
                  <a:pt x="4199183" y="0"/>
                </a:lnTo>
                <a:lnTo>
                  <a:pt x="4199183" y="1030709"/>
                </a:lnTo>
                <a:lnTo>
                  <a:pt x="0" y="103070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852970" y="8281360"/>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7950422" y="-1241235"/>
            <a:ext cx="4323175" cy="2703950"/>
          </a:xfrm>
          <a:custGeom>
            <a:avLst/>
            <a:gdLst/>
            <a:ahLst/>
            <a:cxnLst/>
            <a:rect l="l" t="t" r="r" b="b"/>
            <a:pathLst>
              <a:path w="4323175" h="2703950">
                <a:moveTo>
                  <a:pt x="0" y="0"/>
                </a:moveTo>
                <a:lnTo>
                  <a:pt x="4323176" y="0"/>
                </a:lnTo>
                <a:lnTo>
                  <a:pt x="4323176" y="2703950"/>
                </a:lnTo>
                <a:lnTo>
                  <a:pt x="0" y="270395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rot="2546313">
            <a:off x="-2101172" y="5428761"/>
            <a:ext cx="3464537" cy="2166911"/>
          </a:xfrm>
          <a:custGeom>
            <a:avLst/>
            <a:gdLst/>
            <a:ahLst/>
            <a:cxnLst/>
            <a:rect l="l" t="t" r="r" b="b"/>
            <a:pathLst>
              <a:path w="3464537" h="2166911">
                <a:moveTo>
                  <a:pt x="0" y="0"/>
                </a:moveTo>
                <a:lnTo>
                  <a:pt x="3464538" y="0"/>
                </a:lnTo>
                <a:lnTo>
                  <a:pt x="3464538" y="2166911"/>
                </a:lnTo>
                <a:lnTo>
                  <a:pt x="0" y="2166911"/>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7" name="Freeform 7"/>
          <p:cNvSpPr/>
          <p:nvPr/>
        </p:nvSpPr>
        <p:spPr>
          <a:xfrm>
            <a:off x="17545050" y="2668437"/>
            <a:ext cx="3842656" cy="3842656"/>
          </a:xfrm>
          <a:custGeom>
            <a:avLst/>
            <a:gdLst/>
            <a:ahLst/>
            <a:cxnLst/>
            <a:rect l="l" t="t" r="r" b="b"/>
            <a:pathLst>
              <a:path w="3842656" h="3842656">
                <a:moveTo>
                  <a:pt x="0" y="0"/>
                </a:moveTo>
                <a:lnTo>
                  <a:pt x="3842656" y="0"/>
                </a:lnTo>
                <a:lnTo>
                  <a:pt x="3842656" y="3842656"/>
                </a:lnTo>
                <a:lnTo>
                  <a:pt x="0" y="3842656"/>
                </a:lnTo>
                <a:lnTo>
                  <a:pt x="0" y="0"/>
                </a:lnTo>
                <a:close/>
              </a:path>
            </a:pathLst>
          </a:custGeom>
          <a:blipFill>
            <a:blip>
              <a:extLst>
                <a:ext uri="{96DAC541-7B7A-43D3-8B79-37D633B846F1}">
                  <asvg:svgBlip xmlns:asvg="http://schemas.microsoft.com/office/drawing/2016/SVG/main" r:embed="rId6"/>
                </a:ext>
              </a:extLst>
            </a:blip>
            <a:stretch>
              <a:fillRect/>
            </a:stretch>
          </a:blipFill>
          <a:ln cap="sq">
            <a:noFill/>
            <a:prstDash val="solid"/>
            <a:miter/>
          </a:ln>
        </p:spPr>
      </p:sp>
      <p:sp>
        <p:nvSpPr>
          <p:cNvPr id="8" name="Freeform 8"/>
          <p:cNvSpPr/>
          <p:nvPr/>
        </p:nvSpPr>
        <p:spPr>
          <a:xfrm>
            <a:off x="9986296" y="8826204"/>
            <a:ext cx="971896" cy="1117122"/>
          </a:xfrm>
          <a:custGeom>
            <a:avLst/>
            <a:gdLst/>
            <a:ahLst/>
            <a:cxnLst/>
            <a:rect l="l" t="t" r="r" b="b"/>
            <a:pathLst>
              <a:path w="971896" h="1117122">
                <a:moveTo>
                  <a:pt x="0" y="0"/>
                </a:moveTo>
                <a:lnTo>
                  <a:pt x="971895" y="0"/>
                </a:lnTo>
                <a:lnTo>
                  <a:pt x="971895" y="1117121"/>
                </a:lnTo>
                <a:lnTo>
                  <a:pt x="0" y="1117121"/>
                </a:lnTo>
                <a:lnTo>
                  <a:pt x="0" y="0"/>
                </a:lnTo>
                <a:close/>
              </a:path>
            </a:pathLst>
          </a:custGeom>
          <a:blipFill>
            <a:blip>
              <a:extLst>
                <a:ext uri="{96DAC541-7B7A-43D3-8B79-37D633B846F1}">
                  <asvg:svgBlip xmlns:asvg="http://schemas.microsoft.com/office/drawing/2016/SVG/main" r:embed="rId7"/>
                </a:ext>
              </a:extLst>
            </a:blip>
            <a:stretch>
              <a:fillRect/>
            </a:stretch>
          </a:blipFill>
          <a:ln cap="sq">
            <a:noFill/>
            <a:prstDash val="solid"/>
            <a:miter/>
          </a:ln>
        </p:spPr>
      </p:sp>
      <p:sp>
        <p:nvSpPr>
          <p:cNvPr id="9" name="TextBox 9"/>
          <p:cNvSpPr txBox="1"/>
          <p:nvPr/>
        </p:nvSpPr>
        <p:spPr>
          <a:xfrm>
            <a:off x="689261" y="1760004"/>
            <a:ext cx="17598739" cy="765497"/>
          </a:xfrm>
          <a:prstGeom prst="rect">
            <a:avLst/>
          </a:prstGeom>
        </p:spPr>
        <p:txBody>
          <a:bodyPr lIns="0" tIns="0" rIns="0" bIns="0" rtlCol="0" anchor="t">
            <a:spAutoFit/>
          </a:bodyPr>
          <a:lstStyle/>
          <a:p>
            <a:pPr algn="l">
              <a:lnSpc>
                <a:spcPts val="2893"/>
              </a:lnSpc>
              <a:spcBef>
                <a:spcPct val="0"/>
              </a:spcBef>
            </a:pPr>
            <a:r>
              <a:rPr lang="en-US" sz="2809" b="1">
                <a:solidFill>
                  <a:srgbClr val="FFFFFF"/>
                </a:solidFill>
                <a:latin typeface="Poppins Bold"/>
                <a:ea typeface="Poppins Bold"/>
                <a:cs typeface="Poppins Bold"/>
                <a:sym typeface="Poppins Bold"/>
              </a:rPr>
              <a:t>(Bonus/Optional Task) Identify development action items that can be discussed with the development team :</a:t>
            </a:r>
          </a:p>
        </p:txBody>
      </p:sp>
      <p:sp>
        <p:nvSpPr>
          <p:cNvPr id="10" name="TextBox 10"/>
          <p:cNvSpPr txBox="1"/>
          <p:nvPr/>
        </p:nvSpPr>
        <p:spPr>
          <a:xfrm>
            <a:off x="1990682" y="3016281"/>
            <a:ext cx="3472524" cy="347471"/>
          </a:xfrm>
          <a:prstGeom prst="rect">
            <a:avLst/>
          </a:prstGeom>
        </p:spPr>
        <p:txBody>
          <a:bodyPr lIns="0" tIns="0" rIns="0" bIns="0" rtlCol="0" anchor="t">
            <a:spAutoFit/>
          </a:bodyPr>
          <a:lstStyle/>
          <a:p>
            <a:pPr algn="ctr">
              <a:lnSpc>
                <a:spcPts val="2444"/>
              </a:lnSpc>
              <a:spcBef>
                <a:spcPct val="0"/>
              </a:spcBef>
            </a:pPr>
            <a:r>
              <a:rPr lang="en-US" sz="2372" b="1">
                <a:solidFill>
                  <a:srgbClr val="FFFFFF"/>
                </a:solidFill>
                <a:latin typeface="Poppins Bold"/>
                <a:ea typeface="Poppins Bold"/>
                <a:cs typeface="Poppins Bold"/>
                <a:sym typeface="Poppins Bold"/>
              </a:rPr>
              <a:t>1. IAM Data Integration</a:t>
            </a:r>
          </a:p>
        </p:txBody>
      </p:sp>
      <p:sp>
        <p:nvSpPr>
          <p:cNvPr id="11" name="TextBox 11"/>
          <p:cNvSpPr txBox="1"/>
          <p:nvPr/>
        </p:nvSpPr>
        <p:spPr>
          <a:xfrm>
            <a:off x="2138390" y="3656012"/>
            <a:ext cx="5164455" cy="624369"/>
          </a:xfrm>
          <a:prstGeom prst="rect">
            <a:avLst/>
          </a:prstGeom>
        </p:spPr>
        <p:txBody>
          <a:bodyPr lIns="0" tIns="0" rIns="0" bIns="0" rtlCol="0" anchor="t">
            <a:spAutoFit/>
          </a:bodyPr>
          <a:lstStyle/>
          <a:p>
            <a:pPr algn="l">
              <a:lnSpc>
                <a:spcPts val="1613"/>
              </a:lnSpc>
              <a:spcBef>
                <a:spcPct val="0"/>
              </a:spcBef>
            </a:pPr>
            <a:r>
              <a:rPr lang="en-US" sz="1566">
                <a:solidFill>
                  <a:srgbClr val="FFFFFF"/>
                </a:solidFill>
                <a:latin typeface="Poppins"/>
                <a:ea typeface="Poppins"/>
                <a:cs typeface="Poppins"/>
                <a:sym typeface="Poppins"/>
              </a:rPr>
              <a:t>Integrate with cloud provider APIs (AWS/GCP/Azure)</a:t>
            </a:r>
          </a:p>
          <a:p>
            <a:pPr algn="l">
              <a:lnSpc>
                <a:spcPts val="1613"/>
              </a:lnSpc>
              <a:spcBef>
                <a:spcPct val="0"/>
              </a:spcBef>
            </a:pPr>
            <a:r>
              <a:rPr lang="en-US" sz="1566">
                <a:solidFill>
                  <a:srgbClr val="FFFFFF"/>
                </a:solidFill>
                <a:latin typeface="Poppins"/>
                <a:ea typeface="Poppins"/>
                <a:cs typeface="Poppins"/>
                <a:sym typeface="Poppins"/>
              </a:rPr>
              <a:t>Fetch users, roles, policies, and permission data</a:t>
            </a:r>
          </a:p>
          <a:p>
            <a:pPr algn="l">
              <a:lnSpc>
                <a:spcPts val="1613"/>
              </a:lnSpc>
              <a:spcBef>
                <a:spcPct val="0"/>
              </a:spcBef>
            </a:pPr>
            <a:r>
              <a:rPr lang="en-US" sz="1566">
                <a:solidFill>
                  <a:srgbClr val="FFFFFF"/>
                </a:solidFill>
                <a:latin typeface="Poppins"/>
                <a:ea typeface="Poppins"/>
                <a:cs typeface="Poppins"/>
                <a:sym typeface="Poppins"/>
              </a:rPr>
              <a:t>Sync data periodically (real-time or scheduled)</a:t>
            </a:r>
          </a:p>
        </p:txBody>
      </p:sp>
      <p:sp>
        <p:nvSpPr>
          <p:cNvPr id="12" name="TextBox 12"/>
          <p:cNvSpPr txBox="1"/>
          <p:nvPr/>
        </p:nvSpPr>
        <p:spPr>
          <a:xfrm>
            <a:off x="1990682" y="4781119"/>
            <a:ext cx="4079307" cy="311837"/>
          </a:xfrm>
          <a:prstGeom prst="rect">
            <a:avLst/>
          </a:prstGeom>
        </p:spPr>
        <p:txBody>
          <a:bodyPr lIns="0" tIns="0" rIns="0" bIns="0" rtlCol="0" anchor="t">
            <a:spAutoFit/>
          </a:bodyPr>
          <a:lstStyle/>
          <a:p>
            <a:pPr algn="ctr">
              <a:lnSpc>
                <a:spcPts val="2200"/>
              </a:lnSpc>
              <a:spcBef>
                <a:spcPct val="0"/>
              </a:spcBef>
            </a:pPr>
            <a:r>
              <a:rPr lang="en-US" sz="2136" b="1">
                <a:solidFill>
                  <a:srgbClr val="FFFFFF"/>
                </a:solidFill>
                <a:latin typeface="Poppins Bold"/>
                <a:ea typeface="Poppins Bold"/>
                <a:cs typeface="Poppins Bold"/>
                <a:sym typeface="Poppins Bold"/>
              </a:rPr>
              <a:t>2. Permission Usage Tracking</a:t>
            </a:r>
          </a:p>
        </p:txBody>
      </p:sp>
      <p:sp>
        <p:nvSpPr>
          <p:cNvPr id="13" name="TextBox 13"/>
          <p:cNvSpPr txBox="1"/>
          <p:nvPr/>
        </p:nvSpPr>
        <p:spPr>
          <a:xfrm>
            <a:off x="2175685" y="5379816"/>
            <a:ext cx="5127161" cy="601597"/>
          </a:xfrm>
          <a:prstGeom prst="rect">
            <a:avLst/>
          </a:prstGeom>
        </p:spPr>
        <p:txBody>
          <a:bodyPr lIns="0" tIns="0" rIns="0" bIns="0" rtlCol="0" anchor="t">
            <a:spAutoFit/>
          </a:bodyPr>
          <a:lstStyle/>
          <a:p>
            <a:pPr algn="l">
              <a:lnSpc>
                <a:spcPts val="1542"/>
              </a:lnSpc>
              <a:spcBef>
                <a:spcPct val="0"/>
              </a:spcBef>
            </a:pPr>
            <a:r>
              <a:rPr lang="en-US" sz="1497">
                <a:solidFill>
                  <a:srgbClr val="FFFFFF"/>
                </a:solidFill>
                <a:latin typeface="Poppins"/>
                <a:ea typeface="Poppins"/>
                <a:cs typeface="Poppins"/>
                <a:sym typeface="Poppins"/>
              </a:rPr>
              <a:t>Capture “last used” data for each permission</a:t>
            </a:r>
          </a:p>
          <a:p>
            <a:pPr algn="l">
              <a:lnSpc>
                <a:spcPts val="1542"/>
              </a:lnSpc>
              <a:spcBef>
                <a:spcPct val="0"/>
              </a:spcBef>
            </a:pPr>
            <a:r>
              <a:rPr lang="en-US" sz="1497">
                <a:solidFill>
                  <a:srgbClr val="FFFFFF"/>
                </a:solidFill>
                <a:latin typeface="Poppins"/>
                <a:ea typeface="Poppins"/>
                <a:cs typeface="Poppins"/>
                <a:sym typeface="Poppins"/>
              </a:rPr>
              <a:t>Maintain logs for access activity</a:t>
            </a:r>
          </a:p>
          <a:p>
            <a:pPr algn="l">
              <a:lnSpc>
                <a:spcPts val="1542"/>
              </a:lnSpc>
              <a:spcBef>
                <a:spcPct val="0"/>
              </a:spcBef>
            </a:pPr>
            <a:r>
              <a:rPr lang="en-US" sz="1497">
                <a:solidFill>
                  <a:srgbClr val="FFFFFF"/>
                </a:solidFill>
                <a:latin typeface="Poppins"/>
                <a:ea typeface="Poppins"/>
                <a:cs typeface="Poppins"/>
                <a:sym typeface="Poppins"/>
              </a:rPr>
              <a:t>Handle cases where usage data is missing or delayed</a:t>
            </a:r>
          </a:p>
        </p:txBody>
      </p:sp>
      <p:sp>
        <p:nvSpPr>
          <p:cNvPr id="14" name="TextBox 14"/>
          <p:cNvSpPr txBox="1"/>
          <p:nvPr/>
        </p:nvSpPr>
        <p:spPr>
          <a:xfrm>
            <a:off x="1907946" y="6520618"/>
            <a:ext cx="2923827" cy="303737"/>
          </a:xfrm>
          <a:prstGeom prst="rect">
            <a:avLst/>
          </a:prstGeom>
        </p:spPr>
        <p:txBody>
          <a:bodyPr lIns="0" tIns="0" rIns="0" bIns="0" rtlCol="0" anchor="t">
            <a:spAutoFit/>
          </a:bodyPr>
          <a:lstStyle/>
          <a:p>
            <a:pPr algn="ctr">
              <a:lnSpc>
                <a:spcPts val="2144"/>
              </a:lnSpc>
              <a:spcBef>
                <a:spcPct val="0"/>
              </a:spcBef>
            </a:pPr>
            <a:r>
              <a:rPr lang="en-US" sz="2082" b="1">
                <a:solidFill>
                  <a:srgbClr val="FFFFFF"/>
                </a:solidFill>
                <a:latin typeface="Poppins Bold"/>
                <a:ea typeface="Poppins Bold"/>
                <a:cs typeface="Poppins Bold"/>
                <a:sym typeface="Poppins Bold"/>
              </a:rPr>
              <a:t>3. Risk Scoring Engine</a:t>
            </a:r>
          </a:p>
        </p:txBody>
      </p:sp>
      <p:sp>
        <p:nvSpPr>
          <p:cNvPr id="15" name="TextBox 15"/>
          <p:cNvSpPr txBox="1"/>
          <p:nvPr/>
        </p:nvSpPr>
        <p:spPr>
          <a:xfrm>
            <a:off x="2138390" y="7117184"/>
            <a:ext cx="6945868" cy="573249"/>
          </a:xfrm>
          <a:prstGeom prst="rect">
            <a:avLst/>
          </a:prstGeom>
        </p:spPr>
        <p:txBody>
          <a:bodyPr lIns="0" tIns="0" rIns="0" bIns="0" rtlCol="0" anchor="t">
            <a:spAutoFit/>
          </a:bodyPr>
          <a:lstStyle/>
          <a:p>
            <a:pPr algn="just">
              <a:lnSpc>
                <a:spcPts val="1446"/>
              </a:lnSpc>
              <a:spcBef>
                <a:spcPct val="0"/>
              </a:spcBef>
            </a:pPr>
            <a:r>
              <a:rPr lang="en-US" sz="1404">
                <a:solidFill>
                  <a:srgbClr val="FFFFFF"/>
                </a:solidFill>
                <a:latin typeface="Poppins"/>
                <a:ea typeface="Poppins"/>
                <a:cs typeface="Poppins"/>
                <a:sym typeface="Poppins"/>
              </a:rPr>
              <a:t>Implement logic for risk calculation (access level, inactivity, permission count)</a:t>
            </a:r>
          </a:p>
          <a:p>
            <a:pPr algn="just">
              <a:lnSpc>
                <a:spcPts val="1446"/>
              </a:lnSpc>
              <a:spcBef>
                <a:spcPct val="0"/>
              </a:spcBef>
            </a:pPr>
            <a:r>
              <a:rPr lang="en-US" sz="1404">
                <a:solidFill>
                  <a:srgbClr val="FFFFFF"/>
                </a:solidFill>
                <a:latin typeface="Poppins"/>
                <a:ea typeface="Poppins"/>
                <a:cs typeface="Poppins"/>
                <a:sym typeface="Poppins"/>
              </a:rPr>
              <a:t>Allow configurable weights for flexibility</a:t>
            </a:r>
          </a:p>
          <a:p>
            <a:pPr algn="just">
              <a:lnSpc>
                <a:spcPts val="1446"/>
              </a:lnSpc>
              <a:spcBef>
                <a:spcPct val="0"/>
              </a:spcBef>
            </a:pPr>
            <a:r>
              <a:rPr lang="en-US" sz="1404">
                <a:solidFill>
                  <a:srgbClr val="FFFFFF"/>
                </a:solidFill>
                <a:latin typeface="Poppins"/>
                <a:ea typeface="Poppins"/>
                <a:cs typeface="Poppins"/>
                <a:sym typeface="Poppins"/>
              </a:rPr>
              <a:t>Ensure fast calculation for large datasets</a:t>
            </a:r>
          </a:p>
        </p:txBody>
      </p:sp>
      <p:sp>
        <p:nvSpPr>
          <p:cNvPr id="16" name="TextBox 16"/>
          <p:cNvSpPr txBox="1"/>
          <p:nvPr/>
        </p:nvSpPr>
        <p:spPr>
          <a:xfrm>
            <a:off x="1907946" y="8136188"/>
            <a:ext cx="2122389" cy="299870"/>
          </a:xfrm>
          <a:prstGeom prst="rect">
            <a:avLst/>
          </a:prstGeom>
        </p:spPr>
        <p:txBody>
          <a:bodyPr lIns="0" tIns="0" rIns="0" bIns="0" rtlCol="0" anchor="t">
            <a:spAutoFit/>
          </a:bodyPr>
          <a:lstStyle/>
          <a:p>
            <a:pPr algn="ctr">
              <a:lnSpc>
                <a:spcPts val="2118"/>
              </a:lnSpc>
              <a:spcBef>
                <a:spcPct val="0"/>
              </a:spcBef>
            </a:pPr>
            <a:r>
              <a:rPr lang="en-US" sz="2056" b="1">
                <a:solidFill>
                  <a:srgbClr val="FFFFFF"/>
                </a:solidFill>
                <a:latin typeface="Poppins Bold"/>
                <a:ea typeface="Poppins Bold"/>
                <a:cs typeface="Poppins Bold"/>
                <a:sym typeface="Poppins Bold"/>
              </a:rPr>
              <a:t>4. Backend APIs</a:t>
            </a:r>
          </a:p>
        </p:txBody>
      </p:sp>
      <p:sp>
        <p:nvSpPr>
          <p:cNvPr id="17" name="TextBox 17"/>
          <p:cNvSpPr txBox="1"/>
          <p:nvPr/>
        </p:nvSpPr>
        <p:spPr>
          <a:xfrm>
            <a:off x="2138390" y="8677421"/>
            <a:ext cx="5331065" cy="580879"/>
          </a:xfrm>
          <a:prstGeom prst="rect">
            <a:avLst/>
          </a:prstGeom>
        </p:spPr>
        <p:txBody>
          <a:bodyPr lIns="0" tIns="0" rIns="0" bIns="0" rtlCol="0" anchor="t">
            <a:spAutoFit/>
          </a:bodyPr>
          <a:lstStyle/>
          <a:p>
            <a:pPr algn="l">
              <a:lnSpc>
                <a:spcPts val="1452"/>
              </a:lnSpc>
              <a:spcBef>
                <a:spcPct val="0"/>
              </a:spcBef>
            </a:pPr>
            <a:r>
              <a:rPr lang="en-US" sz="1410">
                <a:solidFill>
                  <a:srgbClr val="FFFFFF"/>
                </a:solidFill>
                <a:latin typeface="Poppins"/>
                <a:ea typeface="Poppins"/>
                <a:cs typeface="Poppins"/>
                <a:sym typeface="Poppins"/>
              </a:rPr>
              <a:t>APIs for dashboard data (users, roles, risk scores)</a:t>
            </a:r>
          </a:p>
          <a:p>
            <a:pPr algn="l">
              <a:lnSpc>
                <a:spcPts val="1452"/>
              </a:lnSpc>
              <a:spcBef>
                <a:spcPct val="0"/>
              </a:spcBef>
            </a:pPr>
            <a:r>
              <a:rPr lang="en-US" sz="1410">
                <a:solidFill>
                  <a:srgbClr val="FFFFFF"/>
                </a:solidFill>
                <a:latin typeface="Poppins"/>
                <a:ea typeface="Poppins"/>
                <a:cs typeface="Poppins"/>
                <a:sym typeface="Poppins"/>
              </a:rPr>
              <a:t>APIs for user detail view and permission breakdown</a:t>
            </a:r>
          </a:p>
          <a:p>
            <a:pPr algn="l">
              <a:lnSpc>
                <a:spcPts val="1452"/>
              </a:lnSpc>
              <a:spcBef>
                <a:spcPct val="0"/>
              </a:spcBef>
            </a:pPr>
            <a:r>
              <a:rPr lang="en-US" sz="1410">
                <a:solidFill>
                  <a:srgbClr val="FFFFFF"/>
                </a:solidFill>
                <a:latin typeface="Poppins"/>
                <a:ea typeface="Poppins"/>
                <a:cs typeface="Poppins"/>
                <a:sym typeface="Poppins"/>
              </a:rPr>
              <a:t>APIs for performing actions (remove, downgrade, mark safe</a:t>
            </a:r>
          </a:p>
        </p:txBody>
      </p:sp>
      <p:sp>
        <p:nvSpPr>
          <p:cNvPr id="18" name="TextBox 18"/>
          <p:cNvSpPr txBox="1"/>
          <p:nvPr/>
        </p:nvSpPr>
        <p:spPr>
          <a:xfrm>
            <a:off x="10084685" y="2882231"/>
            <a:ext cx="3202662"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5. Remediation Actions</a:t>
            </a:r>
          </a:p>
        </p:txBody>
      </p:sp>
      <p:sp>
        <p:nvSpPr>
          <p:cNvPr id="19" name="TextBox 19"/>
          <p:cNvSpPr txBox="1"/>
          <p:nvPr/>
        </p:nvSpPr>
        <p:spPr>
          <a:xfrm>
            <a:off x="10274670" y="3461479"/>
            <a:ext cx="4298555" cy="773018"/>
          </a:xfrm>
          <a:prstGeom prst="rect">
            <a:avLst/>
          </a:prstGeom>
        </p:spPr>
        <p:txBody>
          <a:bodyPr lIns="0" tIns="0" rIns="0" bIns="0" rtlCol="0" anchor="t">
            <a:spAutoFit/>
          </a:bodyPr>
          <a:lstStyle/>
          <a:p>
            <a:pPr marL="307987" lvl="1" indent="-153993" algn="l">
              <a:lnSpc>
                <a:spcPts val="1469"/>
              </a:lnSpc>
              <a:buFont typeface="Arial"/>
              <a:buChar char="•"/>
            </a:pPr>
            <a:r>
              <a:rPr lang="en-US" sz="1426">
                <a:solidFill>
                  <a:srgbClr val="FFFFFF"/>
                </a:solidFill>
                <a:latin typeface="Poppins"/>
                <a:ea typeface="Poppins"/>
                <a:cs typeface="Poppins"/>
                <a:sym typeface="Poppins"/>
              </a:rPr>
              <a:t>Secure execution of actions like:</a:t>
            </a:r>
          </a:p>
          <a:p>
            <a:pPr marL="307987" lvl="1" indent="-153993" algn="l">
              <a:lnSpc>
                <a:spcPts val="1469"/>
              </a:lnSpc>
              <a:buFont typeface="Arial"/>
              <a:buChar char="•"/>
            </a:pPr>
            <a:r>
              <a:rPr lang="en-US" sz="1426">
                <a:solidFill>
                  <a:srgbClr val="FFFFFF"/>
                </a:solidFill>
                <a:latin typeface="Poppins"/>
                <a:ea typeface="Poppins"/>
                <a:cs typeface="Poppins"/>
                <a:sym typeface="Poppins"/>
              </a:rPr>
              <a:t>Removing permissions</a:t>
            </a:r>
          </a:p>
          <a:p>
            <a:pPr marL="307987" lvl="1" indent="-153993" algn="l">
              <a:lnSpc>
                <a:spcPts val="1469"/>
              </a:lnSpc>
              <a:buFont typeface="Arial"/>
              <a:buChar char="•"/>
            </a:pPr>
            <a:r>
              <a:rPr lang="en-US" sz="1426">
                <a:solidFill>
                  <a:srgbClr val="FFFFFF"/>
                </a:solidFill>
                <a:latin typeface="Poppins"/>
                <a:ea typeface="Poppins"/>
                <a:cs typeface="Poppins"/>
                <a:sym typeface="Poppins"/>
              </a:rPr>
              <a:t>Updating roles/policies</a:t>
            </a:r>
          </a:p>
          <a:p>
            <a:pPr marL="307987" lvl="1" indent="-153993" algn="l">
              <a:lnSpc>
                <a:spcPts val="1469"/>
              </a:lnSpc>
              <a:buFont typeface="Arial"/>
              <a:buChar char="•"/>
            </a:pPr>
            <a:r>
              <a:rPr lang="en-US" sz="1426">
                <a:solidFill>
                  <a:srgbClr val="FFFFFF"/>
                </a:solidFill>
                <a:latin typeface="Poppins"/>
                <a:ea typeface="Poppins"/>
                <a:cs typeface="Poppins"/>
                <a:sym typeface="Poppins"/>
              </a:rPr>
              <a:t>Add confirmation and rollback mechanisms</a:t>
            </a:r>
          </a:p>
        </p:txBody>
      </p:sp>
      <p:sp>
        <p:nvSpPr>
          <p:cNvPr id="20" name="TextBox 20"/>
          <p:cNvSpPr txBox="1"/>
          <p:nvPr/>
        </p:nvSpPr>
        <p:spPr>
          <a:xfrm>
            <a:off x="9986296" y="4789933"/>
            <a:ext cx="4251722" cy="303023"/>
          </a:xfrm>
          <a:prstGeom prst="rect">
            <a:avLst/>
          </a:prstGeom>
        </p:spPr>
        <p:txBody>
          <a:bodyPr lIns="0" tIns="0" rIns="0" bIns="0" rtlCol="0" anchor="t">
            <a:spAutoFit/>
          </a:bodyPr>
          <a:lstStyle/>
          <a:p>
            <a:pPr algn="ctr">
              <a:lnSpc>
                <a:spcPts val="2187"/>
              </a:lnSpc>
              <a:spcBef>
                <a:spcPct val="0"/>
              </a:spcBef>
            </a:pPr>
            <a:r>
              <a:rPr lang="en-US" sz="2123" b="1">
                <a:solidFill>
                  <a:srgbClr val="FFFFFF"/>
                </a:solidFill>
                <a:latin typeface="Poppins Bold"/>
                <a:ea typeface="Poppins Bold"/>
                <a:cs typeface="Poppins Bold"/>
                <a:sym typeface="Poppins Bold"/>
              </a:rPr>
              <a:t>6. UI Performance &amp; Scalability</a:t>
            </a:r>
          </a:p>
        </p:txBody>
      </p:sp>
      <p:sp>
        <p:nvSpPr>
          <p:cNvPr id="21" name="TextBox 21"/>
          <p:cNvSpPr txBox="1"/>
          <p:nvPr/>
        </p:nvSpPr>
        <p:spPr>
          <a:xfrm>
            <a:off x="10274670" y="5491146"/>
            <a:ext cx="5109043" cy="631282"/>
          </a:xfrm>
          <a:prstGeom prst="rect">
            <a:avLst/>
          </a:prstGeom>
        </p:spPr>
        <p:txBody>
          <a:bodyPr lIns="0" tIns="0" rIns="0" bIns="0" rtlCol="0" anchor="t">
            <a:spAutoFit/>
          </a:bodyPr>
          <a:lstStyle/>
          <a:p>
            <a:pPr marL="335953" lvl="1" indent="-167977" algn="l">
              <a:lnSpc>
                <a:spcPts val="1602"/>
              </a:lnSpc>
              <a:buFont typeface="Arial"/>
              <a:buChar char="•"/>
            </a:pPr>
            <a:r>
              <a:rPr lang="en-US" sz="1556">
                <a:solidFill>
                  <a:srgbClr val="FFFFFF"/>
                </a:solidFill>
                <a:latin typeface="Poppins"/>
                <a:ea typeface="Poppins"/>
                <a:cs typeface="Poppins"/>
                <a:sym typeface="Poppins"/>
              </a:rPr>
              <a:t>Handle large IAM datasets efficiently</a:t>
            </a:r>
          </a:p>
          <a:p>
            <a:pPr marL="335953" lvl="1" indent="-167977" algn="l">
              <a:lnSpc>
                <a:spcPts val="1602"/>
              </a:lnSpc>
              <a:buFont typeface="Arial"/>
              <a:buChar char="•"/>
            </a:pPr>
            <a:r>
              <a:rPr lang="en-US" sz="1556">
                <a:solidFill>
                  <a:srgbClr val="FFFFFF"/>
                </a:solidFill>
                <a:latin typeface="Poppins"/>
                <a:ea typeface="Poppins"/>
                <a:cs typeface="Poppins"/>
                <a:sym typeface="Poppins"/>
              </a:rPr>
              <a:t>Implement pagination, lazy loading, and filtering</a:t>
            </a:r>
          </a:p>
          <a:p>
            <a:pPr marL="335953" lvl="1" indent="-167977" algn="l">
              <a:lnSpc>
                <a:spcPts val="1602"/>
              </a:lnSpc>
              <a:buFont typeface="Arial"/>
              <a:buChar char="•"/>
            </a:pPr>
            <a:r>
              <a:rPr lang="en-US" sz="1556">
                <a:solidFill>
                  <a:srgbClr val="FFFFFF"/>
                </a:solidFill>
                <a:latin typeface="Poppins"/>
                <a:ea typeface="Poppins"/>
                <a:cs typeface="Poppins"/>
                <a:sym typeface="Poppins"/>
              </a:rPr>
              <a:t>Optimize table rendering</a:t>
            </a:r>
          </a:p>
        </p:txBody>
      </p:sp>
      <p:sp>
        <p:nvSpPr>
          <p:cNvPr id="22" name="TextBox 22"/>
          <p:cNvSpPr txBox="1"/>
          <p:nvPr/>
        </p:nvSpPr>
        <p:spPr>
          <a:xfrm>
            <a:off x="10112010" y="6520618"/>
            <a:ext cx="3596273" cy="291835"/>
          </a:xfrm>
          <a:prstGeom prst="rect">
            <a:avLst/>
          </a:prstGeom>
        </p:spPr>
        <p:txBody>
          <a:bodyPr lIns="0" tIns="0" rIns="0" bIns="0" rtlCol="0" anchor="t">
            <a:spAutoFit/>
          </a:bodyPr>
          <a:lstStyle/>
          <a:p>
            <a:pPr algn="ctr">
              <a:lnSpc>
                <a:spcPts val="2046"/>
              </a:lnSpc>
              <a:spcBef>
                <a:spcPct val="0"/>
              </a:spcBef>
            </a:pPr>
            <a:r>
              <a:rPr lang="en-US" sz="1987" b="1">
                <a:solidFill>
                  <a:srgbClr val="FFFFFF"/>
                </a:solidFill>
                <a:latin typeface="Poppins Bold"/>
                <a:ea typeface="Poppins Bold"/>
                <a:cs typeface="Poppins Bold"/>
                <a:sym typeface="Poppins Bold"/>
              </a:rPr>
              <a:t>7. Security &amp; Access Control</a:t>
            </a:r>
          </a:p>
        </p:txBody>
      </p:sp>
      <p:sp>
        <p:nvSpPr>
          <p:cNvPr id="23" name="TextBox 23"/>
          <p:cNvSpPr txBox="1"/>
          <p:nvPr/>
        </p:nvSpPr>
        <p:spPr>
          <a:xfrm>
            <a:off x="10274670" y="7155353"/>
            <a:ext cx="5307659" cy="636995"/>
          </a:xfrm>
          <a:prstGeom prst="rect">
            <a:avLst/>
          </a:prstGeom>
        </p:spPr>
        <p:txBody>
          <a:bodyPr lIns="0" tIns="0" rIns="0" bIns="0" rtlCol="0" anchor="t">
            <a:spAutoFit/>
          </a:bodyPr>
          <a:lstStyle/>
          <a:p>
            <a:pPr marL="338948" lvl="1" indent="-169474" algn="l">
              <a:lnSpc>
                <a:spcPts val="1617"/>
              </a:lnSpc>
              <a:buFont typeface="Arial"/>
              <a:buChar char="•"/>
            </a:pPr>
            <a:r>
              <a:rPr lang="en-US" sz="1569">
                <a:solidFill>
                  <a:srgbClr val="FFFFFF"/>
                </a:solidFill>
                <a:latin typeface="Poppins"/>
                <a:ea typeface="Poppins"/>
                <a:cs typeface="Poppins"/>
                <a:sym typeface="Poppins"/>
              </a:rPr>
              <a:t>Ensure only authorized users can access IAM data</a:t>
            </a:r>
          </a:p>
          <a:p>
            <a:pPr marL="338948" lvl="1" indent="-169474" algn="l">
              <a:lnSpc>
                <a:spcPts val="1617"/>
              </a:lnSpc>
              <a:buFont typeface="Arial"/>
              <a:buChar char="•"/>
            </a:pPr>
            <a:r>
              <a:rPr lang="en-US" sz="1569">
                <a:solidFill>
                  <a:srgbClr val="FFFFFF"/>
                </a:solidFill>
                <a:latin typeface="Poppins"/>
                <a:ea typeface="Poppins"/>
                <a:cs typeface="Poppins"/>
                <a:sym typeface="Poppins"/>
              </a:rPr>
              <a:t>Role-based access for this tool itself</a:t>
            </a:r>
          </a:p>
          <a:p>
            <a:pPr marL="338948" lvl="1" indent="-169474" algn="l">
              <a:lnSpc>
                <a:spcPts val="1617"/>
              </a:lnSpc>
              <a:buFont typeface="Arial"/>
              <a:buChar char="•"/>
            </a:pPr>
            <a:r>
              <a:rPr lang="en-US" sz="1569">
                <a:solidFill>
                  <a:srgbClr val="FFFFFF"/>
                </a:solidFill>
                <a:latin typeface="Poppins"/>
                <a:ea typeface="Poppins"/>
                <a:cs typeface="Poppins"/>
                <a:sym typeface="Poppins"/>
              </a:rPr>
              <a:t>Secure API endpoints and authentication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59" b="-9259"/>
            </a:stretch>
          </a:blipFill>
        </p:spPr>
      </p:sp>
      <p:sp>
        <p:nvSpPr>
          <p:cNvPr id="3" name="Freeform 3"/>
          <p:cNvSpPr/>
          <p:nvPr/>
        </p:nvSpPr>
        <p:spPr>
          <a:xfrm>
            <a:off x="-758414" y="8553782"/>
            <a:ext cx="3574228" cy="2439411"/>
          </a:xfrm>
          <a:custGeom>
            <a:avLst/>
            <a:gdLst/>
            <a:ahLst/>
            <a:cxnLst/>
            <a:rect l="l" t="t" r="r" b="b"/>
            <a:pathLst>
              <a:path w="3574228" h="2439411">
                <a:moveTo>
                  <a:pt x="0" y="0"/>
                </a:moveTo>
                <a:lnTo>
                  <a:pt x="3574228" y="0"/>
                </a:lnTo>
                <a:lnTo>
                  <a:pt x="3574228" y="2439411"/>
                </a:lnTo>
                <a:lnTo>
                  <a:pt x="0" y="24394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4820270" y="459188"/>
            <a:ext cx="4199183" cy="1030709"/>
          </a:xfrm>
          <a:custGeom>
            <a:avLst/>
            <a:gdLst/>
            <a:ahLst/>
            <a:cxnLst/>
            <a:rect l="l" t="t" r="r" b="b"/>
            <a:pathLst>
              <a:path w="4199183" h="1030709">
                <a:moveTo>
                  <a:pt x="0" y="0"/>
                </a:moveTo>
                <a:lnTo>
                  <a:pt x="4199183" y="0"/>
                </a:lnTo>
                <a:lnTo>
                  <a:pt x="4199183" y="1030709"/>
                </a:lnTo>
                <a:lnTo>
                  <a:pt x="0" y="103070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5852970" y="8281360"/>
            <a:ext cx="2812659" cy="2984254"/>
          </a:xfrm>
          <a:custGeom>
            <a:avLst/>
            <a:gdLst/>
            <a:ahLst/>
            <a:cxnLst/>
            <a:rect l="l" t="t" r="r" b="b"/>
            <a:pathLst>
              <a:path w="2812659" h="2984254">
                <a:moveTo>
                  <a:pt x="0" y="0"/>
                </a:moveTo>
                <a:lnTo>
                  <a:pt x="2812660" y="0"/>
                </a:lnTo>
                <a:lnTo>
                  <a:pt x="2812660" y="2984254"/>
                </a:lnTo>
                <a:lnTo>
                  <a:pt x="0" y="2984254"/>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6" name="Freeform 6"/>
          <p:cNvSpPr/>
          <p:nvPr/>
        </p:nvSpPr>
        <p:spPr>
          <a:xfrm>
            <a:off x="-758414" y="-255839"/>
            <a:ext cx="3183313" cy="2216744"/>
          </a:xfrm>
          <a:custGeom>
            <a:avLst/>
            <a:gdLst/>
            <a:ahLst/>
            <a:cxnLst/>
            <a:rect l="l" t="t" r="r" b="b"/>
            <a:pathLst>
              <a:path w="3183313" h="2216744">
                <a:moveTo>
                  <a:pt x="0" y="0"/>
                </a:moveTo>
                <a:lnTo>
                  <a:pt x="3183313" y="0"/>
                </a:lnTo>
                <a:lnTo>
                  <a:pt x="3183313" y="2216743"/>
                </a:lnTo>
                <a:lnTo>
                  <a:pt x="0" y="2216743"/>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Freeform 7"/>
          <p:cNvSpPr/>
          <p:nvPr/>
        </p:nvSpPr>
        <p:spPr>
          <a:xfrm>
            <a:off x="7950422" y="-1241235"/>
            <a:ext cx="4323175" cy="2703950"/>
          </a:xfrm>
          <a:custGeom>
            <a:avLst/>
            <a:gdLst/>
            <a:ahLst/>
            <a:cxnLst/>
            <a:rect l="l" t="t" r="r" b="b"/>
            <a:pathLst>
              <a:path w="4323175" h="2703950">
                <a:moveTo>
                  <a:pt x="0" y="0"/>
                </a:moveTo>
                <a:lnTo>
                  <a:pt x="4323176" y="0"/>
                </a:lnTo>
                <a:lnTo>
                  <a:pt x="4323176" y="2703950"/>
                </a:lnTo>
                <a:lnTo>
                  <a:pt x="0" y="270395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8" name="Freeform 8"/>
          <p:cNvSpPr/>
          <p:nvPr/>
        </p:nvSpPr>
        <p:spPr>
          <a:xfrm rot="2546313">
            <a:off x="-2101172" y="5428761"/>
            <a:ext cx="3464537" cy="2166911"/>
          </a:xfrm>
          <a:custGeom>
            <a:avLst/>
            <a:gdLst/>
            <a:ahLst/>
            <a:cxnLst/>
            <a:rect l="l" t="t" r="r" b="b"/>
            <a:pathLst>
              <a:path w="3464537" h="2166911">
                <a:moveTo>
                  <a:pt x="0" y="0"/>
                </a:moveTo>
                <a:lnTo>
                  <a:pt x="3464538" y="0"/>
                </a:lnTo>
                <a:lnTo>
                  <a:pt x="3464538" y="2166911"/>
                </a:lnTo>
                <a:lnTo>
                  <a:pt x="0" y="2166911"/>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9" name="Freeform 9"/>
          <p:cNvSpPr/>
          <p:nvPr/>
        </p:nvSpPr>
        <p:spPr>
          <a:xfrm>
            <a:off x="11686016" y="8553782"/>
            <a:ext cx="3439130" cy="3522386"/>
          </a:xfrm>
          <a:custGeom>
            <a:avLst/>
            <a:gdLst/>
            <a:ahLst/>
            <a:cxnLst/>
            <a:rect l="l" t="t" r="r" b="b"/>
            <a:pathLst>
              <a:path w="3439130" h="3522386">
                <a:moveTo>
                  <a:pt x="0" y="0"/>
                </a:moveTo>
                <a:lnTo>
                  <a:pt x="3439130" y="0"/>
                </a:lnTo>
                <a:lnTo>
                  <a:pt x="3439130" y="3522386"/>
                </a:lnTo>
                <a:lnTo>
                  <a:pt x="0" y="3522386"/>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0" name="Freeform 10"/>
          <p:cNvSpPr/>
          <p:nvPr/>
        </p:nvSpPr>
        <p:spPr>
          <a:xfrm>
            <a:off x="3490204" y="-2113316"/>
            <a:ext cx="3627145" cy="3714953"/>
          </a:xfrm>
          <a:custGeom>
            <a:avLst/>
            <a:gdLst/>
            <a:ahLst/>
            <a:cxnLst/>
            <a:rect l="l" t="t" r="r" b="b"/>
            <a:pathLst>
              <a:path w="3627145" h="3714953">
                <a:moveTo>
                  <a:pt x="0" y="0"/>
                </a:moveTo>
                <a:lnTo>
                  <a:pt x="3627145" y="0"/>
                </a:lnTo>
                <a:lnTo>
                  <a:pt x="3627145" y="3714953"/>
                </a:lnTo>
                <a:lnTo>
                  <a:pt x="0" y="3714953"/>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11" name="Freeform 11"/>
          <p:cNvSpPr/>
          <p:nvPr/>
        </p:nvSpPr>
        <p:spPr>
          <a:xfrm>
            <a:off x="4253903" y="8826204"/>
            <a:ext cx="3938421" cy="2921593"/>
          </a:xfrm>
          <a:custGeom>
            <a:avLst/>
            <a:gdLst/>
            <a:ahLst/>
            <a:cxnLst/>
            <a:rect l="l" t="t" r="r" b="b"/>
            <a:pathLst>
              <a:path w="3938421" h="2921593">
                <a:moveTo>
                  <a:pt x="0" y="0"/>
                </a:moveTo>
                <a:lnTo>
                  <a:pt x="3938421" y="0"/>
                </a:lnTo>
                <a:lnTo>
                  <a:pt x="3938421" y="2921592"/>
                </a:lnTo>
                <a:lnTo>
                  <a:pt x="0" y="2921592"/>
                </a:lnTo>
                <a:lnTo>
                  <a:pt x="0" y="0"/>
                </a:lnTo>
                <a:close/>
              </a:path>
            </a:pathLst>
          </a:custGeom>
          <a:blipFill>
            <a:blip>
              <a:extLst>
                <a:ext uri="{96DAC541-7B7A-43D3-8B79-37D633B846F1}">
                  <asvg:svgBlip xmlns:asvg="http://schemas.microsoft.com/office/drawing/2016/SVG/main" r:embed="rId9"/>
                </a:ext>
              </a:extLst>
            </a:blip>
            <a:stretch>
              <a:fillRect/>
            </a:stretch>
          </a:blipFill>
        </p:spPr>
      </p:sp>
      <p:sp>
        <p:nvSpPr>
          <p:cNvPr id="12" name="Freeform 12"/>
          <p:cNvSpPr/>
          <p:nvPr/>
        </p:nvSpPr>
        <p:spPr>
          <a:xfrm>
            <a:off x="17545050" y="2668437"/>
            <a:ext cx="3842656" cy="3842656"/>
          </a:xfrm>
          <a:custGeom>
            <a:avLst/>
            <a:gdLst/>
            <a:ahLst/>
            <a:cxnLst/>
            <a:rect l="l" t="t" r="r" b="b"/>
            <a:pathLst>
              <a:path w="3842656" h="3842656">
                <a:moveTo>
                  <a:pt x="0" y="0"/>
                </a:moveTo>
                <a:lnTo>
                  <a:pt x="3842656" y="0"/>
                </a:lnTo>
                <a:lnTo>
                  <a:pt x="3842656" y="3842656"/>
                </a:lnTo>
                <a:lnTo>
                  <a:pt x="0" y="3842656"/>
                </a:lnTo>
                <a:lnTo>
                  <a:pt x="0" y="0"/>
                </a:lnTo>
                <a:close/>
              </a:path>
            </a:pathLst>
          </a:custGeom>
          <a:blipFill>
            <a:blip>
              <a:extLst>
                <a:ext uri="{96DAC541-7B7A-43D3-8B79-37D633B846F1}">
                  <asvg:svgBlip xmlns:asvg="http://schemas.microsoft.com/office/drawing/2016/SVG/main" r:embed="rId10"/>
                </a:ext>
              </a:extLst>
            </a:blip>
            <a:stretch>
              <a:fillRect/>
            </a:stretch>
          </a:blipFill>
          <a:ln cap="sq">
            <a:noFill/>
            <a:prstDash val="solid"/>
            <a:miter/>
          </a:ln>
        </p:spPr>
      </p:sp>
      <p:sp>
        <p:nvSpPr>
          <p:cNvPr id="13" name="Freeform 13"/>
          <p:cNvSpPr/>
          <p:nvPr/>
        </p:nvSpPr>
        <p:spPr>
          <a:xfrm>
            <a:off x="9986296" y="8826204"/>
            <a:ext cx="971896" cy="1117122"/>
          </a:xfrm>
          <a:custGeom>
            <a:avLst/>
            <a:gdLst/>
            <a:ahLst/>
            <a:cxnLst/>
            <a:rect l="l" t="t" r="r" b="b"/>
            <a:pathLst>
              <a:path w="971896" h="1117122">
                <a:moveTo>
                  <a:pt x="0" y="0"/>
                </a:moveTo>
                <a:lnTo>
                  <a:pt x="971895" y="0"/>
                </a:lnTo>
                <a:lnTo>
                  <a:pt x="971895" y="1117121"/>
                </a:lnTo>
                <a:lnTo>
                  <a:pt x="0" y="1117121"/>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
        <p:nvSpPr>
          <p:cNvPr id="14" name="Freeform 14"/>
          <p:cNvSpPr/>
          <p:nvPr/>
        </p:nvSpPr>
        <p:spPr>
          <a:xfrm>
            <a:off x="347295" y="2712965"/>
            <a:ext cx="971896" cy="1117122"/>
          </a:xfrm>
          <a:custGeom>
            <a:avLst/>
            <a:gdLst/>
            <a:ahLst/>
            <a:cxnLst/>
            <a:rect l="l" t="t" r="r" b="b"/>
            <a:pathLst>
              <a:path w="971896" h="1117122">
                <a:moveTo>
                  <a:pt x="0" y="0"/>
                </a:moveTo>
                <a:lnTo>
                  <a:pt x="971896" y="0"/>
                </a:lnTo>
                <a:lnTo>
                  <a:pt x="971896" y="1117122"/>
                </a:lnTo>
                <a:lnTo>
                  <a:pt x="0" y="1117122"/>
                </a:lnTo>
                <a:lnTo>
                  <a:pt x="0" y="0"/>
                </a:lnTo>
                <a:close/>
              </a:path>
            </a:pathLst>
          </a:custGeom>
          <a:blipFill>
            <a:blip>
              <a:extLst>
                <a:ext uri="{96DAC541-7B7A-43D3-8B79-37D633B846F1}">
                  <asvg:svgBlip xmlns:asvg="http://schemas.microsoft.com/office/drawing/2016/SVG/main" r:embed="rId11"/>
                </a:ext>
              </a:extLst>
            </a:blip>
            <a:stretch>
              <a:fillRect/>
            </a:stretch>
          </a:blipFill>
          <a:ln cap="sq">
            <a:noFill/>
            <a:prstDash val="solid"/>
            <a:miter/>
          </a:ln>
        </p:spPr>
      </p:sp>
      <p:sp>
        <p:nvSpPr>
          <p:cNvPr id="15" name="TextBox 15"/>
          <p:cNvSpPr txBox="1"/>
          <p:nvPr/>
        </p:nvSpPr>
        <p:spPr>
          <a:xfrm>
            <a:off x="5982305" y="3517993"/>
            <a:ext cx="5703711" cy="1071772"/>
          </a:xfrm>
          <a:prstGeom prst="rect">
            <a:avLst/>
          </a:prstGeom>
        </p:spPr>
        <p:txBody>
          <a:bodyPr lIns="0" tIns="0" rIns="0" bIns="0" rtlCol="0" anchor="t">
            <a:spAutoFit/>
          </a:bodyPr>
          <a:lstStyle/>
          <a:p>
            <a:pPr algn="ctr">
              <a:lnSpc>
                <a:spcPts val="7666"/>
              </a:lnSpc>
              <a:spcBef>
                <a:spcPct val="0"/>
              </a:spcBef>
            </a:pPr>
            <a:r>
              <a:rPr lang="en-US" sz="7443" b="1">
                <a:solidFill>
                  <a:srgbClr val="FFFFFF"/>
                </a:solidFill>
                <a:latin typeface="Poppins Bold"/>
                <a:ea typeface="Poppins Bold"/>
                <a:cs typeface="Poppins Bold"/>
                <a:sym typeface="Poppins Bold"/>
              </a:rPr>
              <a:t>Thank You !</a:t>
            </a:r>
          </a:p>
        </p:txBody>
      </p:sp>
      <p:sp>
        <p:nvSpPr>
          <p:cNvPr id="16" name="TextBox 16"/>
          <p:cNvSpPr txBox="1"/>
          <p:nvPr/>
        </p:nvSpPr>
        <p:spPr>
          <a:xfrm>
            <a:off x="7117349" y="4851770"/>
            <a:ext cx="3110001" cy="452767"/>
          </a:xfrm>
          <a:prstGeom prst="rect">
            <a:avLst/>
          </a:prstGeom>
        </p:spPr>
        <p:txBody>
          <a:bodyPr lIns="0" tIns="0" rIns="0" bIns="0" rtlCol="0" anchor="t">
            <a:spAutoFit/>
          </a:bodyPr>
          <a:lstStyle/>
          <a:p>
            <a:pPr algn="ctr">
              <a:lnSpc>
                <a:spcPts val="3139"/>
              </a:lnSpc>
              <a:spcBef>
                <a:spcPct val="0"/>
              </a:spcBef>
            </a:pPr>
            <a:r>
              <a:rPr lang="en-US" sz="3048" b="1">
                <a:solidFill>
                  <a:srgbClr val="FFFFFF"/>
                </a:solidFill>
                <a:latin typeface="Poppins Bold"/>
                <a:ea typeface="Poppins Bold"/>
                <a:cs typeface="Poppins Bold"/>
                <a:sym typeface="Poppins Bold"/>
              </a:rPr>
              <a:t>by  Aryan Singh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1075</TotalTime>
  <Words>1245</Words>
  <Application>Microsoft Office PowerPoint</Application>
  <PresentationFormat>Custom</PresentationFormat>
  <Paragraphs>173</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Poppins Bold</vt:lpstr>
      <vt:lpstr>Poppins</vt:lpstr>
      <vt:lpstr>Calibri</vt:lpstr>
      <vt:lpstr>Bryndan Write</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IAM Permissions Explorer</dc:title>
  <cp:lastModifiedBy>Rajbali Singh</cp:lastModifiedBy>
  <cp:revision>2</cp:revision>
  <dcterms:created xsi:type="dcterms:W3CDTF">2006-08-16T00:00:00Z</dcterms:created>
  <dcterms:modified xsi:type="dcterms:W3CDTF">2026-04-20T08:02:00Z</dcterms:modified>
  <dc:identifier>DAHHMLmIJQ0</dc:identifier>
</cp:coreProperties>
</file>